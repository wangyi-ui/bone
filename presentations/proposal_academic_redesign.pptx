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81" r:id="rId7"/>
    <p:sldId id="262" r:id="rId8"/>
    <p:sldId id="283" r:id="rId9"/>
    <p:sldId id="286" r:id="rId10"/>
    <p:sldId id="266" r:id="rId11"/>
    <p:sldId id="267" r:id="rId12"/>
    <p:sldId id="268" r:id="rId14"/>
    <p:sldId id="269" r:id="rId15"/>
    <p:sldId id="271" r:id="rId16"/>
    <p:sldId id="272" r:id="rId17"/>
    <p:sldId id="273" r:id="rId18"/>
    <p:sldId id="288" r:id="rId19"/>
    <p:sldId id="290" r:id="rId20"/>
    <p:sldId id="275" r:id="rId21"/>
    <p:sldId id="276" r:id="rId22"/>
  </p:sldIdLst>
  <p:sldSz cx="12191365" cy="6858000" type="screen4x3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9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9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tags" Target="tags/tag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331" y="6394752"/>
            <a:ext cx="6857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9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2533031" y="452051"/>
            <a:ext cx="6041562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3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svg"/><Relationship Id="rId8" Type="http://schemas.openxmlformats.org/officeDocument/2006/relationships/image" Target="../media/image16.svg"/><Relationship Id="rId9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517904"/>
            <a:ext cx="12191695" cy="3694176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4" name="Picture 3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749808"/>
            <a:ext cx="1261872" cy="1261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2093976"/>
            <a:ext cx="10277856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学术学位硕士学位论文开题答辩</a:t>
            </a:r>
            <a:endParaRPr sz="29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057400" y="2724912"/>
            <a:ext cx="8101584" cy="0"/>
          </a:xfrm>
          <a:prstGeom prst="line">
            <a:avLst/>
          </a:prstGeom>
          <a:ln w="16510">
            <a:solidFill>
              <a:srgbClr val="5F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843784"/>
            <a:ext cx="10725912" cy="5120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信息效用驱动的弱质弱量协同多视图聚类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4440" y="3493008"/>
            <a:ext cx="9747504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面向完整多视图的低信噪比与少监督场景</a:t>
            </a:r>
            <a:endParaRPr sz="1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4214748"/>
            <a:ext cx="10122408" cy="27559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EBEE"/>
                </a:solidFill>
                <a:latin typeface="Microsoft YaHei" panose="020B0503020204020204" charset="-122"/>
                <a:ea typeface="微软雅黑" panose="020B0503020204020204" charset="-122"/>
              </a:rPr>
              <a:t>关键词：</a:t>
            </a:r>
            <a:r>
              <a:rPr lang="zh-CN" sz="1500" b="0">
                <a:solidFill>
                  <a:srgbClr val="E3EBEE"/>
                </a:solidFill>
                <a:latin typeface="Microsoft YaHei" panose="020B0503020204020204" charset="-122"/>
                <a:ea typeface="微软雅黑" panose="020B0503020204020204" charset="-122"/>
              </a:rPr>
              <a:t>锚点学习</a:t>
            </a:r>
            <a:r>
              <a:rPr sz="1500" b="0">
                <a:solidFill>
                  <a:srgbClr val="E3EBEE"/>
                </a:solidFill>
                <a:latin typeface="Microsoft YaHei" panose="020B0503020204020204" charset="-122"/>
                <a:ea typeface="微软雅黑" panose="020B0503020204020204" charset="-122"/>
              </a:rPr>
              <a:t>  ·  观测噪声  ·  少量真实标签  ·  软语义关系</a:t>
            </a:r>
            <a:endParaRPr sz="1500" b="0">
              <a:solidFill>
                <a:srgbClr val="E4EA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2898648" y="5550408"/>
            <a:ext cx="2980944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B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>
            <p:custDataLst>
              <p:tags r:id="rId3"/>
            </p:custDataLst>
          </p:nvPr>
        </p:nvSpPr>
        <p:spPr>
          <a:xfrm>
            <a:off x="6300216" y="5550408"/>
            <a:ext cx="2980944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B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2898648" y="5622354"/>
            <a:ext cx="2980944" cy="25844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答辩人：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6300216" y="5622354"/>
            <a:ext cx="2980944" cy="25844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指导教师：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6225286"/>
            <a:ext cx="3136392" cy="2413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2026年1</a:t>
            </a:r>
            <a:r>
              <a:rPr lang="en-US" sz="13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sz="13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月</a:t>
            </a:r>
            <a:r>
              <a:rPr lang="en-US" sz="13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3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日</a:t>
            </a:r>
            <a:endParaRPr lang="zh-CN" altLang="en-US" sz="13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40664" y="2834640"/>
            <a:ext cx="2743200" cy="6858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目录</a:t>
            </a:r>
            <a:endParaRPr sz="3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1288" y="3657600"/>
            <a:ext cx="192024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3EBEE"/>
                </a:solidFill>
                <a:latin typeface="Microsoft YaHei" panose="020B0503020204020204" charset="-122"/>
                <a:ea typeface="微软雅黑" panose="020B0503020204020204" charset="-122"/>
              </a:rPr>
              <a:t>CONTENT</a:t>
            </a:r>
            <a:endParaRPr sz="1300" b="0">
              <a:solidFill>
                <a:srgbClr val="E2E7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23560" y="1362456"/>
            <a:ext cx="5522976" cy="640080"/>
          </a:xfrm>
          <a:prstGeom prst="roundRect">
            <a:avLst>
              <a:gd name="adj" fmla="val 16000"/>
            </a:avLst>
          </a:prstGeom>
          <a:solidFill>
            <a:srgbClr val="F5F7F8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5623560" y="1362456"/>
            <a:ext cx="82296" cy="640080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07024" y="1453896"/>
            <a:ext cx="65836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01.</a:t>
            </a:r>
            <a:endParaRPr sz="20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56832" y="1453896"/>
            <a:ext cx="420624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20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23560" y="2331720"/>
            <a:ext cx="5522976" cy="640080"/>
          </a:xfrm>
          <a:prstGeom prst="roundRect">
            <a:avLst>
              <a:gd name="adj" fmla="val 16000"/>
            </a:avLst>
          </a:prstGeom>
          <a:solidFill>
            <a:srgbClr val="F5F7F8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5623560" y="2331720"/>
            <a:ext cx="82296" cy="640080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07024" y="2423160"/>
            <a:ext cx="65836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02.</a:t>
            </a:r>
            <a:endParaRPr sz="20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56832" y="2423160"/>
            <a:ext cx="420624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20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23560" y="3300984"/>
            <a:ext cx="5522976" cy="640080"/>
          </a:xfrm>
          <a:prstGeom prst="roundRect">
            <a:avLst>
              <a:gd name="adj" fmla="val 16000"/>
            </a:avLst>
          </a:prstGeom>
          <a:solidFill>
            <a:srgbClr val="F5F7F8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5623560" y="3300984"/>
            <a:ext cx="82296" cy="640080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07024" y="3392424"/>
            <a:ext cx="65836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03.</a:t>
            </a:r>
            <a:endParaRPr sz="20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56832" y="3392424"/>
            <a:ext cx="420624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20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23560" y="4270248"/>
            <a:ext cx="5522976" cy="640080"/>
          </a:xfrm>
          <a:prstGeom prst="roundRect">
            <a:avLst>
              <a:gd name="adj" fmla="val 16000"/>
            </a:avLst>
          </a:prstGeom>
          <a:solidFill>
            <a:srgbClr val="F5F7F8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ectangle 18"/>
          <p:cNvSpPr/>
          <p:nvPr/>
        </p:nvSpPr>
        <p:spPr>
          <a:xfrm>
            <a:off x="5623560" y="4270248"/>
            <a:ext cx="82296" cy="640080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07024" y="4361688"/>
            <a:ext cx="65836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04.</a:t>
            </a:r>
            <a:endParaRPr sz="20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56832" y="4361688"/>
            <a:ext cx="420624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20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563624"/>
            <a:ext cx="12191695" cy="3785615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718304" y="2139696"/>
            <a:ext cx="2752344" cy="7040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01</a:t>
            </a:r>
            <a:endParaRPr sz="48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5696" y="2880360"/>
            <a:ext cx="33375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PART ONE</a:t>
            </a:r>
            <a:endParaRPr sz="13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977639" y="3264408"/>
            <a:ext cx="4233673" cy="0"/>
          </a:xfrm>
          <a:prstGeom prst="line">
            <a:avLst/>
          </a:prstGeom>
          <a:ln w="12700">
            <a:solidFill>
              <a:srgbClr val="5F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3520440"/>
            <a:ext cx="8531352" cy="7955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" y="996696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1.1 </a:t>
            </a:r>
            <a:r>
              <a:rPr lang="zh-CN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真实多视图场景：弱质与弱量并存</a:t>
            </a:r>
            <a:endParaRPr lang="zh-CN"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65392"/>
            <a:ext cx="502920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04</a:t>
            </a:r>
            <a:endParaRPr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20072" y="2377440"/>
            <a:ext cx="180136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形状视图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022600" y="4919345"/>
            <a:ext cx="3997325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/>
                <a:latin typeface="Microsoft YaHei" panose="020B0503020204020204" charset="-122"/>
                <a:ea typeface="微软雅黑" panose="020B0503020204020204" charset="-122"/>
              </a:rPr>
              <a:t>所有视图均有观测，但是部分视图受到噪声干扰，可能会影响跨视图信息融合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350125" y="4933315"/>
            <a:ext cx="3873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/>
                <a:latin typeface="Microsoft YaHei" panose="020B0503020204020204" charset="-122"/>
                <a:ea typeface="微软雅黑" panose="020B0503020204020204" charset="-122"/>
              </a:rPr>
              <a:t>少量样本具有真实标签，大量的无样本标签缺乏直接的类别语义指导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观测质量不均与标签稀缺示意图"/>
          <p:cNvPicPr>
            <a:picLocks noChangeAspect="1"/>
          </p:cNvPicPr>
          <p:nvPr/>
        </p:nvPicPr>
        <p:blipFill>
          <a:blip r:embed="rId2"/>
          <a:srcRect l="51813" t="12647" r="2480" b="10700"/>
          <a:stretch>
            <a:fillRect/>
          </a:stretch>
        </p:blipFill>
        <p:spPr>
          <a:xfrm>
            <a:off x="7350125" y="1572895"/>
            <a:ext cx="3919855" cy="2555240"/>
          </a:xfrm>
          <a:prstGeom prst="rect">
            <a:avLst/>
          </a:prstGeom>
        </p:spPr>
      </p:pic>
      <p:pic>
        <p:nvPicPr>
          <p:cNvPr id="16" name="图片 15" descr="观测质量不均与标签稀缺示意图"/>
          <p:cNvPicPr>
            <a:picLocks noChangeAspect="1"/>
          </p:cNvPicPr>
          <p:nvPr/>
        </p:nvPicPr>
        <p:blipFill>
          <a:blip r:embed="rId2"/>
          <a:srcRect l="1844" t="13314" r="50861" b="11608"/>
          <a:stretch>
            <a:fillRect/>
          </a:stretch>
        </p:blipFill>
        <p:spPr>
          <a:xfrm>
            <a:off x="2936240" y="1635760"/>
            <a:ext cx="4081145" cy="2518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996696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" y="996696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1.</a:t>
            </a:r>
            <a:r>
              <a:rPr lang="en-US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2</a:t>
            </a: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 相关研究进展与仍需解决的问题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0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5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320290" y="1971675"/>
            <a:ext cx="9521825" cy="2642870"/>
            <a:chOff x="3653" y="2633"/>
            <a:chExt cx="14995" cy="4162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8198" y="3715"/>
              <a:ext cx="0" cy="30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3512" y="3715"/>
              <a:ext cx="0" cy="30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3653" y="2633"/>
              <a:ext cx="4545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sz="1600" b="1">
                  <a:solidFill>
                    <a:srgbClr val="0A398A"/>
                  </a:solidFill>
                  <a:latin typeface="微软雅黑" panose="020B0503020204020204" charset="-122"/>
                  <a:ea typeface="微软雅黑" panose="020B0503020204020204" charset="-122"/>
                </a:rPr>
                <a:t>多视图结构与一致性学习</a:t>
              </a:r>
              <a:r>
                <a:rPr lang="zh-CN" sz="1600" b="1">
                  <a:solidFill>
                    <a:srgbClr val="0A398A"/>
                  </a:solidFill>
                  <a:latin typeface="微软雅黑" panose="020B0503020204020204" charset="-122"/>
                  <a:ea typeface="微软雅黑" panose="020B0503020204020204" charset="-122"/>
                </a:rPr>
                <a:t>方法</a:t>
              </a:r>
              <a:endParaRPr lang="zh-CN" sz="1600" b="1">
                <a:solidFill>
                  <a:srgbClr val="0A39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777" y="3614"/>
              <a:ext cx="4008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研究进展：通过深度表示与跨视图对比约束，挖掘视图间的共有结构与潜在特征。然而盲目的全局一致性对齐，可能会缺乏对局部动作有效性的判断。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147" y="2633"/>
              <a:ext cx="4040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sz="1600" b="1">
                  <a:solidFill>
                    <a:srgbClr val="0A398A"/>
                  </a:solidFill>
                  <a:latin typeface="微软雅黑" panose="020B0503020204020204" charset="-122"/>
                  <a:ea typeface="微软雅黑" panose="020B0503020204020204" charset="-122"/>
                </a:rPr>
                <a:t>噪声鲁棒多视图聚类方法</a:t>
              </a:r>
              <a:endParaRPr lang="zh-CN" sz="1600" b="1">
                <a:solidFill>
                  <a:srgbClr val="0A39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646" y="3642"/>
              <a:ext cx="4406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研究进展：大多通过低秩恢复、噪声过滤或可靠性感知等机制，减弱不可靠视图的干扰。在缺乏显式的语义指导，纯无监督去噪过度依赖数据自身分布。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4256" y="2633"/>
              <a:ext cx="4040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sz="1600" b="1">
                  <a:solidFill>
                    <a:srgbClr val="0A398A"/>
                  </a:solidFill>
                  <a:latin typeface="微软雅黑" panose="020B0503020204020204" charset="-122"/>
                  <a:ea typeface="微软雅黑" panose="020B0503020204020204" charset="-122"/>
                </a:rPr>
                <a:t>半监督和联合优化方法</a:t>
              </a:r>
              <a:endParaRPr lang="zh-CN" sz="1600" b="1">
                <a:solidFill>
                  <a:srgbClr val="0A39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3819" y="3642"/>
              <a:ext cx="4829" cy="2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研究进展：尝试引入少量标签或成对约束，将其作为正则项或者联合损失，与聚类目标共同优化。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</a:rPr>
                <a:t>但可能存在在强耦合下的语义漂移，现有方法多采用损失相加等硬性融合，当观测噪声极高时，可能导致结构崩塌。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1" name="Rounded Rectangle 31"/>
          <p:cNvSpPr/>
          <p:nvPr/>
        </p:nvSpPr>
        <p:spPr>
          <a:xfrm>
            <a:off x="2834640" y="5620131"/>
            <a:ext cx="8357616" cy="448056"/>
          </a:xfrm>
          <a:prstGeom prst="roundRect">
            <a:avLst>
              <a:gd name="adj" fmla="val 16000"/>
            </a:avLst>
          </a:prstGeom>
          <a:solidFill>
            <a:srgbClr val="EA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>
                <a:solidFill>
                  <a:schemeClr val="tx2">
                    <a:lumMod val="75000"/>
                  </a:schemeClr>
                </a:solidFill>
                <a:latin typeface="Microsoft YaHei" panose="020B0503020204020204" charset="-122"/>
                <a:ea typeface="微软雅黑" panose="020B0503020204020204" charset="-122"/>
              </a:rPr>
              <a:t>共同问题：如何协调跨视图预测可靠性和有限类别语义监督？</a:t>
            </a:r>
            <a:endParaRPr lang="zh-CN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398395" y="1085215"/>
            <a:ext cx="7673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/>
                <a:latin typeface="Microsoft YaHei" panose="020B0503020204020204" charset="-122"/>
                <a:ea typeface="微软雅黑" panose="020B0503020204020204" charset="-122"/>
              </a:rPr>
              <a:t>针对上述挑战，现有研究主要涵盖以下三个演进方向：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563624"/>
            <a:ext cx="12191695" cy="3785615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718304" y="2139696"/>
            <a:ext cx="2752344" cy="7040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02</a:t>
            </a:r>
            <a:endParaRPr sz="48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5696" y="2880360"/>
            <a:ext cx="33375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PART TWO</a:t>
            </a:r>
            <a:endParaRPr sz="13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977639" y="3264408"/>
            <a:ext cx="4233673" cy="0"/>
          </a:xfrm>
          <a:prstGeom prst="line">
            <a:avLst/>
          </a:prstGeom>
          <a:ln w="12700">
            <a:solidFill>
              <a:srgbClr val="5F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3520440"/>
            <a:ext cx="8531352" cy="7955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1719072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" y="1719072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2.1 问题设定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0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7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2616" y="1358265"/>
            <a:ext cx="2011680" cy="328930"/>
          </a:xfrm>
          <a:prstGeom prst="rect">
            <a:avLst/>
          </a:prstGeom>
          <a:noFill/>
        </p:spPr>
        <p:txBody>
          <a:bodyPr wrap="square" lIns="9144" tIns="7315" rIns="9144" bIns="7315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83B55"/>
                </a:solidFill>
                <a:latin typeface="Microsoft YaHei" panose="020B0503020204020204" charset="-122"/>
              </a:rPr>
              <a:t>研究条件</a:t>
            </a:r>
            <a:endParaRPr b="1">
              <a:solidFill>
                <a:srgbClr val="082F78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159625" y="1356868"/>
            <a:ext cx="2651760" cy="328930"/>
          </a:xfrm>
          <a:prstGeom prst="rect">
            <a:avLst/>
          </a:prstGeom>
          <a:noFill/>
        </p:spPr>
        <p:txBody>
          <a:bodyPr wrap="square" lIns="9144" tIns="7315" rIns="9144" bIns="7315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83B55"/>
                </a:solidFill>
                <a:latin typeface="Microsoft YaHei" panose="020B0503020204020204" charset="-122"/>
              </a:rPr>
              <a:t>由此产生的关键困难</a:t>
            </a:r>
            <a:endParaRPr b="1">
              <a:solidFill>
                <a:srgbClr val="082F78"/>
              </a:solidFill>
              <a:latin typeface="微软雅黑" panose="020B050302020402020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7160260" y="2042160"/>
            <a:ext cx="4243070" cy="3147695"/>
            <a:chOff x="11275" y="2686"/>
            <a:chExt cx="6682" cy="4957"/>
          </a:xfrm>
        </p:grpSpPr>
        <p:sp>
          <p:nvSpPr>
            <p:cNvPr id="54" name="Rounded Rectangle 53"/>
            <p:cNvSpPr/>
            <p:nvPr/>
          </p:nvSpPr>
          <p:spPr>
            <a:xfrm>
              <a:off x="11275" y="2686"/>
              <a:ext cx="6682" cy="2261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1DA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1534" y="2808"/>
              <a:ext cx="518" cy="518"/>
            </a:xfrm>
            <a:prstGeom prst="ellipse">
              <a:avLst/>
            </a:prstGeom>
            <a:solidFill>
              <a:srgbClr val="EAF2FC"/>
            </a:solidFill>
            <a:ln w="11430">
              <a:solidFill>
                <a:srgbClr val="316E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535" y="2852"/>
              <a:ext cx="518" cy="446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sz="1300" b="1">
                  <a:solidFill>
                    <a:srgbClr val="316EAF"/>
                  </a:solidFill>
                  <a:latin typeface="微软雅黑" panose="020B0503020204020204" charset="-122"/>
                </a:rPr>
                <a:t>1</a:t>
              </a:r>
              <a:endParaRPr sz="1300" b="1">
                <a:solidFill>
                  <a:srgbClr val="316EAF"/>
                </a:solidFill>
                <a:latin typeface="微软雅黑" panose="020B0503020204020204" charset="-122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2269" y="2808"/>
              <a:ext cx="5328" cy="706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l">
                <a:lnSpc>
                  <a:spcPct val="114000"/>
                </a:lnSpc>
              </a:pPr>
              <a:r>
                <a:rPr sz="1630" b="1">
                  <a:solidFill>
                    <a:srgbClr val="082F78"/>
                  </a:solidFill>
                  <a:latin typeface="微软雅黑" panose="020B0503020204020204" charset="-122"/>
                </a:rPr>
                <a:t>困难一｜预测可靠性存在差异</a:t>
              </a:r>
              <a:endParaRPr sz="1630" b="1">
                <a:solidFill>
                  <a:srgbClr val="082F78"/>
                </a:solidFill>
                <a:latin typeface="微软雅黑" panose="020B0503020204020204" charset="-122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650" y="3598"/>
              <a:ext cx="5947" cy="1013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l">
                <a:lnSpc>
                  <a:spcPct val="128000"/>
                </a:lnSpc>
              </a:pPr>
              <a:r>
                <a:rPr sz="1600" b="0">
                  <a:solidFill>
                    <a:srgbClr val="24334A"/>
                  </a:solidFill>
                  <a:latin typeface="微软雅黑" panose="020B0503020204020204" charset="-122"/>
                  <a:ea typeface="微软雅黑" panose="020B0503020204020204" charset="-122"/>
                </a:rPr>
                <a:t>跨视图预测可能不一致；即使预测一致，也可能共同偏离真实类别。</a:t>
              </a:r>
              <a:endParaRPr sz="1600" b="0">
                <a:solidFill>
                  <a:srgbClr val="2433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1275" y="5371"/>
              <a:ext cx="6682" cy="2261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1DA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1534" y="5616"/>
              <a:ext cx="518" cy="518"/>
            </a:xfrm>
            <a:prstGeom prst="ellipse">
              <a:avLst/>
            </a:prstGeom>
            <a:solidFill>
              <a:srgbClr val="FDF3E8"/>
            </a:solidFill>
            <a:ln w="11430">
              <a:solidFill>
                <a:srgbClr val="DD89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534" y="5630"/>
              <a:ext cx="518" cy="446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sz="1300" b="1">
                  <a:solidFill>
                    <a:srgbClr val="DD8949"/>
                  </a:solidFill>
                  <a:latin typeface="微软雅黑" panose="020B0503020204020204" charset="-122"/>
                </a:rPr>
                <a:t>2</a:t>
              </a:r>
              <a:endParaRPr sz="1300" b="1">
                <a:solidFill>
                  <a:srgbClr val="DD8949"/>
                </a:solidFill>
                <a:latin typeface="微软雅黑" panose="020B0503020204020204" charset="-122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2269" y="5558"/>
              <a:ext cx="5328" cy="706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l">
                <a:lnSpc>
                  <a:spcPct val="114000"/>
                </a:lnSpc>
              </a:pPr>
              <a:r>
                <a:rPr sz="1630" b="1">
                  <a:solidFill>
                    <a:srgbClr val="082F78"/>
                  </a:solidFill>
                  <a:latin typeface="微软雅黑" panose="020B0503020204020204" charset="-122"/>
                </a:rPr>
                <a:t>困难二｜语义关系可能产生偏差</a:t>
              </a:r>
              <a:endParaRPr sz="1630" b="1">
                <a:solidFill>
                  <a:srgbClr val="082F78"/>
                </a:solidFill>
                <a:latin typeface="微软雅黑" panose="020B0503020204020204" charset="-122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650" y="6134"/>
              <a:ext cx="5947" cy="1509"/>
            </a:xfrm>
            <a:prstGeom prst="rect">
              <a:avLst/>
            </a:prstGeom>
            <a:noFill/>
          </p:spPr>
          <p:txBody>
            <a:bodyPr wrap="square" lIns="9144" tIns="7315" rIns="9144" bIns="7315" anchor="ctr">
              <a:spAutoFit/>
            </a:bodyPr>
            <a:lstStyle/>
            <a:p>
              <a:pPr algn="l">
                <a:lnSpc>
                  <a:spcPct val="128000"/>
                </a:lnSpc>
              </a:pPr>
              <a:r>
                <a:rPr sz="1600" b="0">
                  <a:solidFill>
                    <a:srgbClr val="24334A"/>
                  </a:solidFill>
                  <a:latin typeface="微软雅黑" panose="020B0503020204020204" charset="-122"/>
                  <a:ea typeface="微软雅黑" panose="020B0503020204020204" charset="-122"/>
                </a:rPr>
                <a:t>真实标签数量有限；基于受噪声影响的聚类后验扩展语义关系时，可能引入错误监督</a:t>
              </a:r>
              <a:r>
                <a:rPr sz="1420" b="0">
                  <a:solidFill>
                    <a:srgbClr val="24334A"/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sz="1420" b="0">
                <a:solidFill>
                  <a:srgbClr val="24334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70" y="2079625"/>
            <a:ext cx="4130040" cy="3103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1719072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" y="1719072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3435985" cy="46634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2.2 核心研究思路与主要内容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grpSp>
        <p:nvGrpSpPr>
          <p:cNvPr id="44" name="组合 43"/>
          <p:cNvGrpSpPr/>
          <p:nvPr>
            <p:custDataLst>
              <p:tags r:id="rId2"/>
            </p:custDataLst>
          </p:nvPr>
        </p:nvGrpSpPr>
        <p:grpSpPr>
          <a:xfrm>
            <a:off x="7741285" y="1343660"/>
            <a:ext cx="4020185" cy="1780540"/>
            <a:chOff x="8216" y="3556"/>
            <a:chExt cx="6331" cy="2804"/>
          </a:xfrm>
        </p:grpSpPr>
        <p:sp>
          <p:nvSpPr>
            <p:cNvPr id="38" name="文本框 37"/>
            <p:cNvSpPr txBox="1"/>
            <p:nvPr>
              <p:custDataLst>
                <p:tags r:id="rId3"/>
              </p:custDataLst>
            </p:nvPr>
          </p:nvSpPr>
          <p:spPr>
            <a:xfrm>
              <a:off x="8216" y="3556"/>
              <a:ext cx="6331" cy="62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b="1">
                  <a:solidFill>
                    <a:srgbClr val="0B357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以多视图聚类后验为共同学习基础</a:t>
              </a:r>
              <a:endParaRPr lang="zh-CN" altLang="en-US" b="1">
                <a:solidFill>
                  <a:srgbClr val="0B357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4"/>
              </p:custDataLst>
            </p:nvPr>
          </p:nvSpPr>
          <p:spPr>
            <a:xfrm>
              <a:off x="8266" y="4387"/>
              <a:ext cx="5982" cy="197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引入优化引导的特征映射与共享聚类网络，结合使用跨视图对比学习和分布正则化，得到具有一定判别能力的聚类后验。</a:t>
              </a:r>
              <a:endParaRPr lang="zh-CN" altLang="en-US" sz="1600">
                <a:solidFill>
                  <a:srgbClr val="262D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2684780" y="2392045"/>
            <a:ext cx="3572510" cy="2327910"/>
            <a:chOff x="3900" y="6743"/>
            <a:chExt cx="5626" cy="3666"/>
          </a:xfrm>
        </p:grpSpPr>
        <p:sp>
          <p:nvSpPr>
            <p:cNvPr id="40" name="文本框 39"/>
            <p:cNvSpPr txBox="1"/>
            <p:nvPr>
              <p:custDataLst>
                <p:tags r:id="rId6"/>
              </p:custDataLst>
            </p:nvPr>
          </p:nvSpPr>
          <p:spPr>
            <a:xfrm>
              <a:off x="3900" y="6743"/>
              <a:ext cx="5439" cy="110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b="1">
                  <a:solidFill>
                    <a:srgbClr val="0B3574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跨视图可靠性与稀疏类别语义共同建模</a:t>
              </a:r>
              <a:endParaRPr lang="zh-CN" altLang="en-US" b="1">
                <a:solidFill>
                  <a:srgbClr val="0B357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7"/>
              </p:custDataLst>
            </p:nvPr>
          </p:nvSpPr>
          <p:spPr>
            <a:xfrm>
              <a:off x="3900" y="7978"/>
              <a:ext cx="5626" cy="24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基于初始聚类后验，引入互补视图预测验证估计样本</a:t>
              </a:r>
              <a:r>
                <a:rPr lang="en-US" alt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-</a:t>
              </a:r>
              <a:r>
                <a:rPr lang="zh-CN" altLang="en-US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动作级信息效用，同时结合少量真实标签在动作条件下构建连续语义关系，分别提供预测支持依据与类别语义方向。</a:t>
              </a:r>
              <a:endParaRPr lang="zh-CN" altLang="en-US" sz="1600">
                <a:solidFill>
                  <a:srgbClr val="262D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8"/>
            </p:custDataLst>
          </p:nvPr>
        </p:nvGrpSpPr>
        <p:grpSpPr>
          <a:xfrm>
            <a:off x="7851775" y="3520440"/>
            <a:ext cx="3703320" cy="1832610"/>
            <a:chOff x="12448" y="6848"/>
            <a:chExt cx="5832" cy="2886"/>
          </a:xfrm>
        </p:grpSpPr>
        <p:sp>
          <p:nvSpPr>
            <p:cNvPr id="42" name="TextBox 32"/>
            <p:cNvSpPr txBox="1"/>
            <p:nvPr>
              <p:custDataLst>
                <p:tags r:id="rId9"/>
              </p:custDataLst>
            </p:nvPr>
          </p:nvSpPr>
          <p:spPr>
            <a:xfrm>
              <a:off x="12448" y="6848"/>
              <a:ext cx="5832" cy="479"/>
            </a:xfrm>
            <a:prstGeom prst="rect">
              <a:avLst/>
            </a:prstGeom>
            <a:noFill/>
          </p:spPr>
          <p:txBody>
            <a:bodyPr wrap="square" lIns="9144" tIns="0" rIns="9144" bIns="0" anchor="ctr">
              <a:spAutoFit/>
            </a:bodyPr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b="1">
                  <a:solidFill>
                    <a:srgbClr val="0B3574"/>
                  </a:solidFill>
                  <a:latin typeface="微软雅黑" panose="020B0503020204020204" charset="-122"/>
                  <a:ea typeface="微软雅黑" panose="020B0503020204020204" charset="-122"/>
                </a:rPr>
                <a:t>结构与语义协同优化</a:t>
              </a:r>
              <a:endParaRPr lang="zh-CN" b="1">
                <a:solidFill>
                  <a:srgbClr val="0B357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10"/>
              </p:custDataLst>
            </p:nvPr>
          </p:nvSpPr>
          <p:spPr>
            <a:xfrm>
              <a:off x="12448" y="7761"/>
              <a:ext cx="5571" cy="197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软</a:t>
              </a:r>
              <a:r>
                <a:rPr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语义</a:t>
              </a:r>
              <a:r>
                <a:rPr 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目标</a:t>
              </a:r>
              <a:r>
                <a:rPr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确定关系学习方向，可靠性调节不同关系的监督贡献。</a:t>
              </a:r>
              <a:r>
                <a:rPr lang="zh-CN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之后</a:t>
              </a:r>
              <a:r>
                <a:rPr lang="zh-CN" altLang="en-US" sz="1600">
                  <a:solidFill>
                    <a:srgbClr val="262D37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与跨视图结构学习顺序协同优化共享网络参数，改善聚类后验。</a:t>
              </a:r>
              <a:endParaRPr lang="zh-CN" altLang="en-US" sz="1600">
                <a:solidFill>
                  <a:srgbClr val="262D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478270" y="2131060"/>
            <a:ext cx="1080770" cy="2961005"/>
            <a:chOff x="10480" y="4054"/>
            <a:chExt cx="1492" cy="4155"/>
          </a:xfrm>
        </p:grpSpPr>
        <p:sp>
          <p:nvSpPr>
            <p:cNvPr id="49" name="New shape"/>
            <p:cNvSpPr/>
            <p:nvPr>
              <p:custDataLst>
                <p:tags r:id="rId11"/>
              </p:custDataLst>
            </p:nvPr>
          </p:nvSpPr>
          <p:spPr>
            <a:xfrm>
              <a:off x="11189" y="4638"/>
              <a:ext cx="62" cy="731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0" name="New shape"/>
            <p:cNvSpPr/>
            <p:nvPr>
              <p:custDataLst>
                <p:tags r:id="rId12"/>
              </p:custDataLst>
            </p:nvPr>
          </p:nvSpPr>
          <p:spPr>
            <a:xfrm>
              <a:off x="11484" y="4338"/>
              <a:ext cx="488" cy="6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" name="New shape"/>
            <p:cNvSpPr/>
            <p:nvPr>
              <p:custDataLst>
                <p:tags r:id="rId13"/>
              </p:custDataLst>
            </p:nvPr>
          </p:nvSpPr>
          <p:spPr>
            <a:xfrm>
              <a:off x="10940" y="4054"/>
              <a:ext cx="567" cy="584"/>
            </a:xfrm>
            <a:prstGeom prst="roundRect">
              <a:avLst>
                <a:gd name="adj" fmla="val 8819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rgbClr val="FFFFFF"/>
                  </a:solidFill>
                </a:rPr>
                <a:t>1</a:t>
              </a: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2" name="New shape"/>
            <p:cNvSpPr/>
            <p:nvPr>
              <p:custDataLst>
                <p:tags r:id="rId14"/>
              </p:custDataLst>
            </p:nvPr>
          </p:nvSpPr>
          <p:spPr>
            <a:xfrm>
              <a:off x="11189" y="5953"/>
              <a:ext cx="62" cy="95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3" name="New shape"/>
            <p:cNvSpPr/>
            <p:nvPr>
              <p:custDataLst>
                <p:tags r:id="rId15"/>
              </p:custDataLst>
            </p:nvPr>
          </p:nvSpPr>
          <p:spPr>
            <a:xfrm>
              <a:off x="10480" y="5654"/>
              <a:ext cx="488" cy="6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4" name="New shape"/>
            <p:cNvSpPr/>
            <p:nvPr>
              <p:custDataLst>
                <p:tags r:id="rId16"/>
              </p:custDataLst>
            </p:nvPr>
          </p:nvSpPr>
          <p:spPr>
            <a:xfrm>
              <a:off x="10940" y="5369"/>
              <a:ext cx="567" cy="584"/>
            </a:xfrm>
            <a:prstGeom prst="roundRect">
              <a:avLst>
                <a:gd name="adj" fmla="val 8819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rgbClr val="FFFFFF"/>
                  </a:solidFill>
                </a:rPr>
                <a:t>2</a:t>
              </a: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5" name="New shape"/>
            <p:cNvSpPr/>
            <p:nvPr>
              <p:custDataLst>
                <p:tags r:id="rId17"/>
              </p:custDataLst>
            </p:nvPr>
          </p:nvSpPr>
          <p:spPr>
            <a:xfrm>
              <a:off x="11189" y="7489"/>
              <a:ext cx="62" cy="720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6" name="New shape"/>
            <p:cNvSpPr/>
            <p:nvPr>
              <p:custDataLst>
                <p:tags r:id="rId18"/>
              </p:custDataLst>
            </p:nvPr>
          </p:nvSpPr>
          <p:spPr>
            <a:xfrm>
              <a:off x="11484" y="7190"/>
              <a:ext cx="488" cy="6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7" name="New shape"/>
            <p:cNvSpPr/>
            <p:nvPr>
              <p:custDataLst>
                <p:tags r:id="rId19"/>
              </p:custDataLst>
            </p:nvPr>
          </p:nvSpPr>
          <p:spPr>
            <a:xfrm>
              <a:off x="10940" y="6905"/>
              <a:ext cx="567" cy="584"/>
            </a:xfrm>
            <a:prstGeom prst="roundRect">
              <a:avLst>
                <a:gd name="adj" fmla="val 8819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rgbClr val="FFFFFF"/>
                  </a:solidFill>
                </a:rPr>
                <a:t>3</a:t>
              </a: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58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0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8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563624"/>
            <a:ext cx="12191695" cy="3785615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718304" y="2139696"/>
            <a:ext cx="2752344" cy="7040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03</a:t>
            </a:r>
            <a:endParaRPr sz="48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5696" y="2880360"/>
            <a:ext cx="33375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PART THREE</a:t>
            </a:r>
            <a:endParaRPr sz="13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977639" y="3264408"/>
            <a:ext cx="4233673" cy="0"/>
          </a:xfrm>
          <a:prstGeom prst="line">
            <a:avLst/>
          </a:prstGeom>
          <a:ln w="12700">
            <a:solidFill>
              <a:srgbClr val="5F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3520440"/>
            <a:ext cx="8531352" cy="7955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2441448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" y="2441448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3.1 信息效用引导的整体学习框架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0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 descr="框架图2"/>
          <p:cNvPicPr>
            <a:picLocks noChangeAspect="1"/>
          </p:cNvPicPr>
          <p:nvPr/>
        </p:nvPicPr>
        <p:blipFill>
          <a:blip r:embed="rId2"/>
          <a:srcRect b="8784"/>
          <a:stretch>
            <a:fillRect/>
          </a:stretch>
        </p:blipFill>
        <p:spPr>
          <a:xfrm>
            <a:off x="2451735" y="1314450"/>
            <a:ext cx="9443720" cy="44507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305" y="3434715"/>
            <a:ext cx="1242695" cy="2032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119755" y="5939155"/>
            <a:ext cx="7860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</a:rPr>
              <a:t>以多视图聚类后验为共同基础，构建跨视图信息效用与稀疏标签软语义目标，通过效用加权的关系监督与结构学习协同优化，改善聚类结果。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2441448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" y="2441448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3.2 多视图聚类后验构建和结构学习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875915" y="3740150"/>
            <a:ext cx="4108450" cy="1881505"/>
          </a:xfrm>
          <a:prstGeom prst="rect">
            <a:avLst/>
          </a:prstGeom>
          <a:noFill/>
          <a:ln w="12700" cap="flat" cmpd="sng">
            <a:noFill/>
            <a:prstDash val="sysDot"/>
            <a:round/>
          </a:ln>
        </p:spPr>
        <p:txBody>
          <a:bodyPr wrap="square" rtlCol="0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chemeClr val="tx1"/>
                </a:solidFill>
                <a:latin typeface="Microsoft YaHei" panose="020B0503020204020204" charset="-122"/>
                <a:ea typeface="微软雅黑" panose="020B0503020204020204" charset="-122"/>
              </a:rPr>
              <a:t>核心操作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</a:rPr>
              <a:t>非线性映射：克服视图间原始维度与表达方式的异构差异。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</a:rPr>
              <a:t>参数共享聚类：将多视图特征映射到同一类别空间，生成软聚类后验。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80300" y="3662045"/>
            <a:ext cx="4199890" cy="2614930"/>
          </a:xfrm>
          <a:prstGeom prst="rect">
            <a:avLst/>
          </a:prstGeom>
          <a:noFill/>
          <a:ln w="12700" cmpd="sng">
            <a:noFill/>
            <a:prstDash val="sysDot"/>
          </a:ln>
        </p:spPr>
        <p:txBody>
          <a:bodyPr wrap="square" rtlCol="0">
            <a:noAutofit/>
          </a:bodyPr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600" b="1">
                <a:solidFill>
                  <a:schemeClr val="tx1"/>
                </a:solidFill>
                <a:latin typeface="Microsoft YaHei" panose="020B0503020204020204" charset="-122"/>
                <a:ea typeface="微软雅黑" panose="020B0503020204020204" charset="-122"/>
              </a:rPr>
              <a:t>主要作用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统一类别表示：把不同维度的视图映射到同一空间里。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增强结构判别：通过跨视图对比学习和聚类分配正则化，促进类别预测一致性，缓解聚类分配退化。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支持后续学习：为跨视图信息效用估计及软语义目标构建提供共同的初始预测依据。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0168255" y="2032635"/>
            <a:ext cx="423545" cy="0"/>
          </a:xfrm>
          <a:prstGeom prst="straightConnector1">
            <a:avLst/>
          </a:prstGeom>
          <a:ln>
            <a:solidFill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0676255" y="1822450"/>
            <a:ext cx="275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/>
              </a:rPr>
              <a:t>q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10058400" y="1718945"/>
            <a:ext cx="770255" cy="279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/>
              </a:rPr>
              <a:t>MLP</a:t>
            </a:r>
            <a:endParaRPr lang="en-US" altLang="zh-CN" sz="1400"/>
          </a:p>
        </p:txBody>
      </p:sp>
      <p:pic>
        <p:nvPicPr>
          <p:cNvPr id="2" name="图片 1" descr="锚引导特征提取迭代流程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55" y="969010"/>
            <a:ext cx="6916420" cy="2305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2441448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" y="2441448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3.3 互补视图验证</a:t>
            </a:r>
            <a:r>
              <a:rPr lang="zh-CN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与</a:t>
            </a: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稀疏标签引导</a:t>
            </a:r>
            <a:r>
              <a:rPr lang="zh-CN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的关系构建</a:t>
            </a:r>
            <a:endParaRPr lang="zh-CN"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2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图片 42" descr="类原型与软关系计算流程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613150"/>
            <a:ext cx="3876675" cy="258508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862070" y="5309235"/>
            <a:ext cx="79375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/>
                <a:latin typeface="+mn-ea"/>
              </a:rPr>
              <a:t>&lt;p,C&gt;</a:t>
            </a:r>
            <a:endParaRPr lang="en-US" altLang="zh-CN" sz="1200">
              <a:latin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670675" y="1916430"/>
            <a:ext cx="541972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chemeClr val="tx1"/>
                </a:solidFill>
                <a:latin typeface="Microsoft YaHei" panose="020B0503020204020204" charset="-122"/>
                <a:ea typeface="微软雅黑" panose="020B0503020204020204" charset="-122"/>
              </a:rPr>
              <a:t>跨视图信息效用U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构建互补视图组，分别形成生成侧和验证侧聚类预测，判断同一样本中不同视图是否支持相同的类别，支持的程度又是多少。评估样本</a:t>
            </a:r>
            <a:r>
              <a:rPr lang="en-US" altLang="zh-CN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动作的相对可靠性。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709410" y="4015105"/>
            <a:ext cx="510032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600" b="1">
                <a:solidFill>
                  <a:schemeClr val="tx1"/>
                </a:solidFill>
                <a:latin typeface="Microsoft YaHei" panose="020B0503020204020204" charset="-122"/>
                <a:ea typeface="微软雅黑" panose="020B0503020204020204" charset="-122"/>
              </a:rPr>
              <a:t>软语义关系目标T</a:t>
            </a:r>
            <a:endParaRPr lang="zh-CN"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</a:rPr>
              <a:t>提出一种基于互补视图预测与类别语义参照的软关系构建方法，利用少量标签和初始聚类后验建立软语义参照。通过动作条件下的类别匹配，构建连续软语义关系目标。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ChatGPT 图像 2026年10月24日 21_44_02-1"/>
          <p:cNvPicPr>
            <a:picLocks noChangeAspect="1"/>
          </p:cNvPicPr>
          <p:nvPr/>
        </p:nvPicPr>
        <p:blipFill>
          <a:blip r:embed="rId3"/>
          <a:srcRect t="12004" b="12191"/>
          <a:stretch>
            <a:fillRect/>
          </a:stretch>
        </p:blipFill>
        <p:spPr>
          <a:xfrm>
            <a:off x="2560955" y="1637030"/>
            <a:ext cx="3597275" cy="1534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2441448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" y="2441448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" y="3163824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1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3.</a:t>
            </a: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4 信息效用引导的软关系协同优化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3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698750" y="1828165"/>
            <a:ext cx="2828925" cy="32613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差异化关系监督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利用稀疏标签构建的软语义目标约束当前关系预测，并依据对应动作的信息效用调节监督贡献，使不同预测支持程度的关系参与差异化学习。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结构与语义协同优化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关系监督与原有跨视图结构学习顺序作用于共享聚类网络参数，进一步改善聚类后验。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>
                  <a:alpha val="100000"/>
                </a:srgbClr>
              </a:clrFrom>
              <a:clrTo>
                <a:srgbClr val="FCFCFC">
                  <a:alpha val="100000"/>
                  <a:alpha val="0"/>
                </a:srgbClr>
              </a:clrTo>
            </a:clrChange>
          </a:blip>
          <a:srcRect l="2786" t="7043"/>
          <a:stretch>
            <a:fillRect/>
          </a:stretch>
        </p:blipFill>
        <p:spPr>
          <a:xfrm>
            <a:off x="6416040" y="2125345"/>
            <a:ext cx="4875530" cy="2964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563624"/>
            <a:ext cx="12191695" cy="3785615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718304" y="2139696"/>
            <a:ext cx="2752344" cy="7040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04</a:t>
            </a:r>
            <a:endParaRPr sz="48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5696" y="2880360"/>
            <a:ext cx="333756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PART FOUR</a:t>
            </a:r>
            <a:endParaRPr sz="13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977639" y="3264408"/>
            <a:ext cx="4233673" cy="0"/>
          </a:xfrm>
          <a:prstGeom prst="line">
            <a:avLst/>
          </a:prstGeom>
          <a:ln w="12700">
            <a:solidFill>
              <a:srgbClr val="5F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28800" y="3520440"/>
            <a:ext cx="8531352" cy="7955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3163824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" y="3163824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4.1 数据集与实验协议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5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2616" y="1069848"/>
            <a:ext cx="914400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8个公开多视图基准：自然图像、显微图像、手写数字、物体图像与视频。</a:t>
            </a:r>
            <a:endParaRPr sz="16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79192" y="1664208"/>
            <a:ext cx="6236208" cy="475488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779776" y="1746504"/>
            <a:ext cx="2505456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数据集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40680" y="1746504"/>
            <a:ext cx="11064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样本 N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0528" y="1746504"/>
            <a:ext cx="11064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视图 V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35240" y="1746504"/>
            <a:ext cx="11064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类别 K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79192" y="2148840"/>
            <a:ext cx="6236208" cy="466344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2779776" y="2221992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MSRC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0680" y="222199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210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10528" y="222199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4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35240" y="222199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7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679192" y="2624328"/>
            <a:ext cx="6236208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2779776" y="2697480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BDGP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40680" y="269748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2500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10528" y="269748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35240" y="269748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5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79192" y="3099816"/>
            <a:ext cx="6236208" cy="466344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779776" y="3172968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HandWrite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40680" y="317296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2000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0528" y="317296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6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35240" y="317296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79192" y="3575304"/>
            <a:ext cx="6236208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2779776" y="3648456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COIL20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40680" y="3648456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1440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10528" y="3648456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3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35240" y="3648456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79192" y="4050791"/>
            <a:ext cx="6236208" cy="466344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2779776" y="4123944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Caltech-5V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40680" y="4123944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1400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510528" y="4123944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5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35240" y="4123944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7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679192" y="4526280"/>
            <a:ext cx="6236208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2779776" y="4599432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MNIST-USPS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40680" y="459943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5000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10528" y="459943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35240" y="4599432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679192" y="5001768"/>
            <a:ext cx="6236208" cy="466344"/>
          </a:xfrm>
          <a:prstGeom prst="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2779776" y="5074920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ALOI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40680" y="507492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10800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10528" y="507492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4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35240" y="5074920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100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679192" y="5477256"/>
            <a:ext cx="6236208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2779776" y="5550408"/>
            <a:ext cx="2505456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CCV</a:t>
            </a:r>
            <a:endParaRPr sz="1400" b="1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40680" y="555040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6773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510528" y="555040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3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635240" y="5550408"/>
            <a:ext cx="1069848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20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107424" y="1664208"/>
            <a:ext cx="2395728" cy="43708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Rectangle 63"/>
          <p:cNvSpPr/>
          <p:nvPr/>
        </p:nvSpPr>
        <p:spPr>
          <a:xfrm>
            <a:off x="9107424" y="1664208"/>
            <a:ext cx="64008" cy="437083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5" name="TextBox 64"/>
          <p:cNvSpPr txBox="1"/>
          <p:nvPr/>
        </p:nvSpPr>
        <p:spPr>
          <a:xfrm>
            <a:off x="9308592" y="1792224"/>
            <a:ext cx="201168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统一实验设置</a:t>
            </a:r>
            <a:endParaRPr sz="1600" b="1">
              <a:solidFill>
                <a:srgbClr val="0A39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08592" y="2240280"/>
            <a:ext cx="1993392" cy="3685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观测噪声：控制污染强度与污染视图比例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少量标注：主要设置每类2个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评价：ACC / NMI / ARI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重复：多随机种子</a:t>
            </a:r>
            <a:endParaRPr sz="140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3163824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" y="3163824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4.2 实验结果</a:t>
            </a:r>
            <a:endParaRPr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6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282440" y="1156335"/>
            <a:ext cx="58934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在噪声为</a:t>
            </a:r>
            <a:r>
              <a:rPr lang="en-US" altLang="zh-CN" sz="12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2.5dB</a:t>
            </a:r>
            <a:r>
              <a:rPr lang="zh-CN" altLang="en-US" sz="12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，标签数量为</a:t>
            </a:r>
            <a:r>
              <a:rPr lang="en-US" altLang="zh-CN" sz="12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的情况下，在不同对比方法以及不同数据集上的实验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 descr="Table1_MSRC_BDGP_HandWrite_Caltech_Transparent"/>
          <p:cNvPicPr>
            <a:picLocks noChangeAspect="1"/>
          </p:cNvPicPr>
          <p:nvPr/>
        </p:nvPicPr>
        <p:blipFill>
          <a:blip r:embed="rId2"/>
          <a:srcRect r="43453"/>
          <a:stretch>
            <a:fillRect/>
          </a:stretch>
        </p:blipFill>
        <p:spPr>
          <a:xfrm>
            <a:off x="4001770" y="1718945"/>
            <a:ext cx="5314315" cy="2051685"/>
          </a:xfrm>
          <a:prstGeom prst="rect">
            <a:avLst/>
          </a:prstGeom>
        </p:spPr>
      </p:pic>
      <p:pic>
        <p:nvPicPr>
          <p:cNvPr id="18" name="图片 17" descr="Table2_MNIST_COIL20_ALOI_CCV_Transparent"/>
          <p:cNvPicPr>
            <a:picLocks noChangeAspect="1"/>
          </p:cNvPicPr>
          <p:nvPr/>
        </p:nvPicPr>
        <p:blipFill>
          <a:blip r:embed="rId3"/>
          <a:srcRect r="43460"/>
          <a:stretch>
            <a:fillRect/>
          </a:stretch>
        </p:blipFill>
        <p:spPr>
          <a:xfrm>
            <a:off x="4001770" y="4057650"/>
            <a:ext cx="5314315" cy="2051685"/>
          </a:xfrm>
          <a:prstGeom prst="rect">
            <a:avLst/>
          </a:prstGeom>
        </p:spPr>
      </p:pic>
      <p:pic>
        <p:nvPicPr>
          <p:cNvPr id="22" name="图片 21" descr="圆角矩形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8765" y="3223260"/>
            <a:ext cx="494665" cy="205740"/>
          </a:xfrm>
          <a:prstGeom prst="rect">
            <a:avLst/>
          </a:prstGeom>
        </p:spPr>
      </p:pic>
      <p:pic>
        <p:nvPicPr>
          <p:cNvPr id="23" name="图片 22" descr="圆角矩形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8765" y="5598160"/>
            <a:ext cx="494665" cy="205740"/>
          </a:xfrm>
          <a:prstGeom prst="rect">
            <a:avLst/>
          </a:prstGeom>
        </p:spPr>
      </p:pic>
      <p:pic>
        <p:nvPicPr>
          <p:cNvPr id="2" name="图片 1" descr="圆角矩形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5320" y="3308985"/>
            <a:ext cx="522605" cy="286385"/>
          </a:xfrm>
          <a:prstGeom prst="rect">
            <a:avLst/>
          </a:prstGeom>
        </p:spPr>
      </p:pic>
      <p:pic>
        <p:nvPicPr>
          <p:cNvPr id="19" name="图片 18" descr="圆角矩形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5320" y="5664200"/>
            <a:ext cx="522605" cy="286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3163824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" y="3163824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4.2 </a:t>
            </a:r>
            <a:r>
              <a:rPr lang="zh-CN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敏感性分析和消融实验</a:t>
            </a:r>
            <a:endParaRPr lang="zh-CN"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</a:t>
            </a: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8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 descr="sensitivity_semantic_l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985" y="1141095"/>
            <a:ext cx="5668645" cy="175450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333240" y="3070225"/>
            <a:ext cx="4868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4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0.0001~0.001</a:t>
            </a:r>
            <a:r>
              <a:rPr lang="zh-CN" altLang="en-US" sz="1400">
                <a:solidFill/>
                <a:latin typeface="Microsoft YaHei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范围内，学习率在三个数据集上的影响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 descr="学术方法对比指标表"/>
          <p:cNvPicPr>
            <a:picLocks noChangeAspect="1"/>
          </p:cNvPicPr>
          <p:nvPr/>
        </p:nvPicPr>
        <p:blipFill>
          <a:blip r:embed="rId3"/>
          <a:srcRect t="23296" b="24000"/>
          <a:stretch>
            <a:fillRect/>
          </a:stretch>
        </p:blipFill>
        <p:spPr>
          <a:xfrm>
            <a:off x="3888105" y="3606165"/>
            <a:ext cx="5942965" cy="23495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979545" y="6043295"/>
            <a:ext cx="58515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/>
                <a:latin typeface="Microsoft YaHei" panose="020B0503020204020204" charset="-122"/>
                <a:ea typeface="微软雅黑" panose="020B0503020204020204" charset="-122"/>
              </a:rPr>
              <a:t>在三个数据集上进行消融研究，均匀化信息效用、打乱跨视图效用的对应关系以及打乱软语义关系目标对应关系，结果表明，效用权重的差异化和正确的语义关系对应均对聚类性能有积极作用。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2130552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" y="996696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研究背景及意义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20040" y="1636776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" y="1719072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研究问题与思路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20040" y="2359152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" y="2441448"/>
            <a:ext cx="1975104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253646"/>
                </a:solidFill>
                <a:latin typeface="Microsoft YaHei" panose="020B0503020204020204" charset="-122"/>
                <a:ea typeface="微软雅黑" panose="020B0503020204020204" charset="-122"/>
              </a:rPr>
              <a:t>研究方法与技术路线</a:t>
            </a:r>
            <a:endParaRPr sz="1280" b="0">
              <a:solidFill>
                <a:srgbClr val="2132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20040" y="3081528"/>
            <a:ext cx="1490472" cy="0"/>
          </a:xfrm>
          <a:prstGeom prst="line">
            <a:avLst/>
          </a:prstGeom>
          <a:ln w="825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3163824"/>
            <a:ext cx="2212848" cy="576072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" y="3163824"/>
            <a:ext cx="2011680" cy="5760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 panose="020B0503020204020204" charset="-122"/>
                <a:ea typeface="微软雅黑" panose="020B0503020204020204" charset="-122"/>
              </a:rPr>
              <a:t>实验设计与计划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4919472"/>
            <a:ext cx="1325880" cy="1316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68880" y="372808"/>
            <a:ext cx="9372600" cy="4663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4.3 研究</a:t>
            </a:r>
            <a:r>
              <a:rPr lang="zh-CN" sz="2200" b="1">
                <a:solidFill>
                  <a:srgbClr val="183B55"/>
                </a:solidFill>
                <a:latin typeface="Microsoft YaHei" panose="020B0503020204020204" charset="-122"/>
                <a:ea typeface="微软雅黑" panose="020B0503020204020204" charset="-122"/>
              </a:rPr>
              <a:t>计划</a:t>
            </a:r>
            <a:endParaRPr lang="zh-CN" sz="2100" b="1">
              <a:solidFill>
                <a:srgbClr val="082F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59736" y="941832"/>
            <a:ext cx="9262872" cy="24688"/>
          </a:xfrm>
          <a:prstGeom prst="rect">
            <a:avLst/>
          </a:prstGeom>
          <a:solidFill>
            <a:srgbClr val="5F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1311128" y="6584506"/>
            <a:ext cx="502920" cy="17208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60717D"/>
                </a:solidFill>
                <a:latin typeface="Microsoft YaHei" panose="020B0503020204020204" charset="-122"/>
                <a:ea typeface="微软雅黑" panose="020B0503020204020204" charset="-122"/>
              </a:rPr>
              <a:t>19</a:t>
            </a:r>
            <a:endParaRPr lang="en-US" sz="900" b="0">
              <a:solidFill>
                <a:srgbClr val="6575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3" name="powerpoint template design by DAJU_PPT正版来源小红书大橘PPT微信DAJU_PPT请勿抄袭搬运！盗版必究！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427095" y="1370965"/>
          <a:ext cx="7328535" cy="50031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2845"/>
                <a:gridCol w="2442845"/>
                <a:gridCol w="2442845"/>
              </a:tblGrid>
              <a:tr h="594360">
                <a:tc>
                  <a:txBody>
                    <a:bodyPr/>
                    <a:p>
                      <a:pPr algn="ctr"/>
                      <a:r>
                        <a:rPr lang="zh-CN" altLang="en-US" sz="1800" b="1" dirty="0">
                          <a:solidFill>
                            <a:srgbClr val="183B55"/>
                          </a:solidFill>
                          <a:latin typeface="Microsoft YaHei"/>
                          <a:ea typeface="+mj-ea"/>
                          <a:cs typeface="Arial" panose="020B0604020202020204" pitchFamily="34" charset="0"/>
                        </a:rPr>
                        <a:t>论文工作计划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183B55"/>
                          </a:solidFill>
                          <a:latin typeface="Microsoft YaHei"/>
                          <a:ea typeface="+mn-ea"/>
                          <a:cs typeface="Arial" panose="020B0604020202020204" pitchFamily="34" charset="0"/>
                        </a:rPr>
                        <a:t>起止日期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/>
                    <a:p>
                      <a:pPr marL="0" marR="0" lvl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kern="1200" cap="none" spc="0" normalizeH="0" baseline="0" dirty="0">
                          <a:solidFill>
                            <a:srgbClr val="183B55"/>
                          </a:solidFill>
                          <a:latin typeface="Microsoft YaHei"/>
                          <a:ea typeface="+mj-ea"/>
                          <a:cs typeface="Arial" panose="020B0604020202020204" pitchFamily="34" charset="0"/>
                        </a:rPr>
                        <a:t>阶段工作内容及计划完成的指标</a:t>
                      </a:r>
                      <a:endParaRPr kumimoji="0" lang="zh-CN" altLang="en-US" sz="1800" b="1" i="0" u="none" strike="noStrike" kern="1200" cap="none" spc="0" normalizeH="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2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论文准备阶段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2025.09-2026.01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阅读文献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8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选题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2025.09-2026.01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查看资料，确定研究课题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论文实验研究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2026.02-2026.09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验证创新点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8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开题报告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2026.10.30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准备好开题报告内容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做实验及小论文初稿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2026.02-2026.10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实验已完成小论文在写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论文投稿修正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2026.11-2027.02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待进行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0068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大论文初稿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2027.05-2027.09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待进行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初稿修正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2027.10-2027.12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待进行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定稿&amp;查重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2028.05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待进行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大论文毕业答辩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2028.05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53646"/>
                          </a:solidFill>
                          <a:effectLst/>
                          <a:uLnTx/>
                          <a:uFillTx/>
                          <a:latin typeface="Microsoft YaHei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待进行</a:t>
                      </a:r>
                      <a:endParaRPr kumimoji="0" lang="zh-CN" altLang="en-US" sz="16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45703" marR="45703" marT="22860" marB="22860" anchor="ctr">
                    <a:lnL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554480"/>
            <a:ext cx="12191695" cy="3712463"/>
          </a:xfrm>
          <a:prstGeom prst="rect">
            <a:avLst/>
          </a:prstGeom>
          <a:solidFill>
            <a:srgbClr val="18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4" name="Picture 3" descr="logo_src_1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3987" y="1528572"/>
            <a:ext cx="1261872" cy="1261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" y="3294253"/>
            <a:ext cx="9994392" cy="6375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B9D8DD"/>
                </a:solidFill>
                <a:latin typeface="Microsoft YaHei" panose="020B0503020204020204" charset="-122"/>
                <a:ea typeface="微软雅黑" panose="020B0503020204020204" charset="-122"/>
              </a:rPr>
              <a:t>汇报完毕，恳请批评指正</a:t>
            </a:r>
            <a:endParaRPr sz="3600" b="1">
              <a:solidFill>
                <a:srgbClr val="D9B9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3.11999999999998,&quot;left&quot;:228.24,&quot;top&quot;:437.03999999999996,&quot;width&quot;:502.56000000000006}"/>
</p:tagLst>
</file>

<file path=ppt/tags/tag6.xml><?xml version="1.0" encoding="utf-8"?>
<p:tagLst xmlns:p="http://schemas.openxmlformats.org/presentationml/2006/main">
  <p:tag name="KSO_WM_DIAGRAM_VIRTUALLY_FRAME" val="{&quot;height&quot;:33.11999999999998,&quot;left&quot;:228.24,&quot;top&quot;:437.03999999999996,&quot;width&quot;:502.56000000000006}"/>
</p:tagLst>
</file>

<file path=ppt/tags/tag7.xml><?xml version="1.0" encoding="utf-8"?>
<p:tagLst xmlns:p="http://schemas.openxmlformats.org/presentationml/2006/main">
  <p:tag name="KSO_WM_DIAGRAM_VIRTUALLY_FRAME" val="{&quot;height&quot;:33.11999999999998,&quot;left&quot;:228.24,&quot;top&quot;:437.03999999999996,&quot;width&quot;:502.56000000000006}"/>
</p:tagLst>
</file>

<file path=ppt/tags/tag8.xml><?xml version="1.0" encoding="utf-8"?>
<p:tagLst xmlns:p="http://schemas.openxmlformats.org/presentationml/2006/main">
  <p:tag name="KSO_WM_DIAGRAM_VIRTUALLY_FRAME" val="{&quot;height&quot;:33.11999999999998,&quot;left&quot;:228.24,&quot;top&quot;:437.03999999999996,&quot;width&quot;:502.56000000000006}"/>
</p:tagLst>
</file>

<file path=ppt/tags/tag9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0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1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2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3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4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5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6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7.xml><?xml version="1.0" encoding="utf-8"?>
<p:tagLst xmlns:p="http://schemas.openxmlformats.org/presentationml/2006/main">
  <p:tag name="KSO_WM_DIAGRAM_VIRTUALLY_FRAME" val="{&quot;height&quot;:442.05,&quot;left&quot;:187.75,&quot;top&quot;:91.4,&quot;width&quot;:744.8}"/>
</p:tagLst>
</file>

<file path=ppt/tags/tag18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19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0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1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2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3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4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5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6.xml><?xml version="1.0" encoding="utf-8"?>
<p:tagLst xmlns:p="http://schemas.openxmlformats.org/presentationml/2006/main">
  <p:tag name="KSO_WM_DIAGRAM_VIRTUALLY_FRAME" val="{&quot;height&quot;:288.5133070866142,&quot;left&quot;:77.31181102362204,&quot;top&quot;:122.45669291338581,&quot;width&quot;:789.8200787401574}"/>
</p:tagLst>
</file>

<file path=ppt/tags/tag27.xml><?xml version="1.0" encoding="utf-8"?>
<p:tagLst xmlns:p="http://schemas.openxmlformats.org/presentationml/2006/main">
  <p:tag name="TABLE_ENDDRAG_ORIGIN_RECT" val="576*388"/>
  <p:tag name="TABLE_ENDDRAG_RECT" val="228*135*577*388"/>
</p:tagLst>
</file>

<file path=ppt/tags/tag28.xml><?xml version="1.0" encoding="utf-8"?>
<p:tagLst xmlns:p="http://schemas.openxmlformats.org/presentationml/2006/main">
  <p:tag name="resource_record_key" val="{&quot;10&quot;:[4394274,21602162,20093158,19990173,4587606,3635674,3635546,3633716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2670</Words>
  <Application>WPS 演示</Application>
  <PresentationFormat>On-screen Show (4:3)</PresentationFormat>
  <Paragraphs>453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王庆敏</cp:lastModifiedBy>
  <cp:revision>23</cp:revision>
  <dcterms:created xsi:type="dcterms:W3CDTF">2013-01-27T09:14:00Z</dcterms:created>
  <dcterms:modified xsi:type="dcterms:W3CDTF">2026-10-27T14:33:30Z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7A383B0242CC4F36BF9F311C7F84AE1D_12</vt:lpwstr>
  </property>
  <property fmtid="{D5CDD505-2E9C-101B-9397-08002B2CF9AE}" pid="3" name="KSOProductBuildVer">
    <vt:lpwstr>2052-12.1.0.20784</vt:lpwstr>
  </property>
</Properties>
</file>