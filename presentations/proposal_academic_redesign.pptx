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3.svg" ContentType="image/svg+xml"/>
  <Override PartName="/ppt/media/image14.svg" ContentType="image/svg+xml"/>
  <Override PartName="/ppt/media/image15.svg" ContentType="image/svg+xml"/>
  <Override PartName="/ppt/media/image1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3"/>
  </p:notesMasterIdLst>
  <p:sldIdLst>
    <p:sldId id="256" r:id="rId3"/>
    <p:sldId id="257" r:id="rId4"/>
    <p:sldId id="258" r:id="rId5"/>
    <p:sldId id="259" r:id="rId6"/>
    <p:sldId id="281" r:id="rId7"/>
    <p:sldId id="262" r:id="rId8"/>
    <p:sldId id="283" r:id="rId9"/>
    <p:sldId id="286" r:id="rId10"/>
    <p:sldId id="266" r:id="rId11"/>
    <p:sldId id="267" r:id="rId12"/>
    <p:sldId id="268" r:id="rId14"/>
    <p:sldId id="269" r:id="rId15"/>
    <p:sldId id="271" r:id="rId16"/>
    <p:sldId id="272" r:id="rId17"/>
    <p:sldId id="273" r:id="rId18"/>
    <p:sldId id="288" r:id="rId19"/>
    <p:sldId id="290" r:id="rId20"/>
    <p:sldId id="275" r:id="rId21"/>
    <p:sldId id="276" r:id="rId22"/>
  </p:sldIdLst>
  <p:sldSz cx="12191365" cy="6858000" type="screen4x3"/>
  <p:notesSz cx="6858000" cy="9144000"/>
  <p:custDataLst>
    <p:tags r:id="rId26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00" userDrawn="1">
          <p15:clr>
            <a:srgbClr val="A4A3A4"/>
          </p15:clr>
        </p15:guide>
        <p15:guide id="2" pos="297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200"/>
        <p:guide pos="2977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ableStyles" Target="tableStyles.xml"/><Relationship Id="rId26" Type="http://schemas.openxmlformats.org/officeDocument/2006/relationships/tags" Target="tags/tag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943" y="1143000"/>
            <a:ext cx="5486114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.xml"/><Relationship Id="rId3" Type="http://schemas.openxmlformats.org/officeDocument/2006/relationships/tags" Target="../tags/tag2.xml"/><Relationship Id="rId4" Type="http://schemas.openxmlformats.org/officeDocument/2006/relationships/tags" Target="../tags/tag3.xml"/><Relationship Id="rId5" Type="http://schemas.openxmlformats.org/officeDocument/2006/relationships/tags" Target="../tags/tag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11012331" y="6394752"/>
            <a:ext cx="6857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DDFDCD-830D-4E78-9097-B6B92A67D61F}" type="slidenum">
              <a:rPr lang="zh-CN" altLang="en-US" smtClean="0"/>
            </a:fld>
            <a:endParaRPr lang="zh-CN" altLang="en-US" dirty="0"/>
          </a:p>
        </p:txBody>
      </p:sp>
      <p:sp>
        <p:nvSpPr>
          <p:cNvPr id="69" name="标题 1"/>
          <p:cNvSpPr>
            <a:spLocks noGrp="1"/>
          </p:cNvSpPr>
          <p:nvPr userDrawn="1">
            <p:ph type="title" hasCustomPrompt="1"/>
          </p:nvPr>
        </p:nvSpPr>
        <p:spPr>
          <a:xfrm>
            <a:off x="2533031" y="452051"/>
            <a:ext cx="6041562" cy="405102"/>
          </a:xfrm>
          <a:prstGeom prst="rect">
            <a:avLst/>
          </a:prstGeom>
        </p:spPr>
        <p:txBody>
          <a:bodyPr wrap="square" lIns="72000" tIns="36000" rIns="72000" bIns="36000">
            <a:spAutoFit/>
          </a:bodyPr>
          <a:lstStyle>
            <a:lvl1pPr algn="l">
              <a:defRPr lang="zh-CN" altLang="en-US" sz="2400" b="1" spc="300" dirty="0">
                <a:solidFill>
                  <a:schemeClr val="accent1"/>
                </a:solidFill>
                <a:latin typeface="+mj-ea"/>
                <a:ea typeface="+mj-ea"/>
                <a:cs typeface="+mn-cs"/>
              </a:defRPr>
            </a:lvl1pPr>
          </a:lstStyle>
          <a:p>
            <a:pPr marL="0" lvl="0" algn="dist" fontAlgn="base"/>
            <a:r>
              <a:rPr lang="zh-CN" altLang="en-US" dirty="0"/>
              <a:t>单击此处标题</a:t>
            </a:r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tags" Target="../tags/tag5.xml"/><Relationship Id="rId3" Type="http://schemas.openxmlformats.org/officeDocument/2006/relationships/tags" Target="../tags/tag6.xml"/><Relationship Id="rId4" Type="http://schemas.openxmlformats.org/officeDocument/2006/relationships/tags" Target="../tags/tag7.xml"/><Relationship Id="rId5" Type="http://schemas.openxmlformats.org/officeDocument/2006/relationships/tags" Target="../tags/tag8.xml"/><Relationship Id="rId6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tags" Target="../tags/tag9.xml"/><Relationship Id="rId3" Type="http://schemas.openxmlformats.org/officeDocument/2006/relationships/tags" Target="../tags/tag10.xml"/><Relationship Id="rId4" Type="http://schemas.openxmlformats.org/officeDocument/2006/relationships/tags" Target="../tags/tag11.xml"/><Relationship Id="rId5" Type="http://schemas.openxmlformats.org/officeDocument/2006/relationships/tags" Target="../tags/tag12.xml"/><Relationship Id="rId6" Type="http://schemas.openxmlformats.org/officeDocument/2006/relationships/tags" Target="../tags/tag13.xml"/><Relationship Id="rId7" Type="http://schemas.openxmlformats.org/officeDocument/2006/relationships/tags" Target="../tags/tag14.xml"/><Relationship Id="rId8" Type="http://schemas.openxmlformats.org/officeDocument/2006/relationships/tags" Target="../tags/tag15.xml"/><Relationship Id="rId9" Type="http://schemas.openxmlformats.org/officeDocument/2006/relationships/tags" Target="../tags/tag16.xml"/><Relationship Id="rId10" Type="http://schemas.openxmlformats.org/officeDocument/2006/relationships/tags" Target="../tags/tag17.xml"/><Relationship Id="rId11" Type="http://schemas.openxmlformats.org/officeDocument/2006/relationships/tags" Target="../tags/tag18.xml"/><Relationship Id="rId12" Type="http://schemas.openxmlformats.org/officeDocument/2006/relationships/tags" Target="../tags/tag19.xml"/><Relationship Id="rId13" Type="http://schemas.openxmlformats.org/officeDocument/2006/relationships/tags" Target="../tags/tag20.xml"/><Relationship Id="rId14" Type="http://schemas.openxmlformats.org/officeDocument/2006/relationships/tags" Target="../tags/tag21.xml"/><Relationship Id="rId15" Type="http://schemas.openxmlformats.org/officeDocument/2006/relationships/tags" Target="../tags/tag22.xml"/><Relationship Id="rId16" Type="http://schemas.openxmlformats.org/officeDocument/2006/relationships/tags" Target="../tags/tag23.xml"/><Relationship Id="rId17" Type="http://schemas.openxmlformats.org/officeDocument/2006/relationships/tags" Target="../tags/tag24.xml"/><Relationship Id="rId18" Type="http://schemas.openxmlformats.org/officeDocument/2006/relationships/tags" Target="../tags/tag25.xml"/><Relationship Id="rId19" Type="http://schemas.openxmlformats.org/officeDocument/2006/relationships/tags" Target="../tags/tag26.xml"/><Relationship Id="rId20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slideLayout" Target="../slideLayouts/slideLayout7.xml"/><Relationship Id="rId5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9.png"/><Relationship Id="rId3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svg"/><Relationship Id="rId6" Type="http://schemas.openxmlformats.org/officeDocument/2006/relationships/image" Target="../media/image14.svg"/><Relationship Id="rId7" Type="http://schemas.openxmlformats.org/officeDocument/2006/relationships/image" Target="../media/image15.svg"/><Relationship Id="rId8" Type="http://schemas.openxmlformats.org/officeDocument/2006/relationships/image" Target="../media/image16.svg"/><Relationship Id="rId9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tags" Target="../tags/tag27.xml"/><Relationship Id="rId3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8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pic>
        <p:nvPicPr>
          <p:cNvPr id="4" name="Picture 3" descr="logo_src_1_2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512064"/>
            <a:ext cx="1005840" cy="1005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97280" y="1783080"/>
            <a:ext cx="9875520" cy="384048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83B55"/>
                </a:solidFill>
                <a:latin typeface="Microsoft YaHei" panose="020B0503020204020204" charset="-122"/>
                <a:ea typeface="微软雅黑" panose="020B0503020204020204" charset="-122"/>
              </a:rPr>
              <a:t>学术学位硕士学位论文开题答辩</a:t>
            </a:r>
            <a:endParaRPr sz="2900" b="1">
              <a:solidFill>
                <a:srgbClr val="D9B97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1097280" y="2377440"/>
            <a:ext cx="1234440" cy="0"/>
          </a:xfrm>
          <a:prstGeom prst="line">
            <a:avLst/>
          </a:prstGeom>
          <a:ln w="16510">
            <a:solidFill>
              <a:srgbClr val="5F8C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97280" y="2606040"/>
            <a:ext cx="10332720" cy="77724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83B55"/>
                </a:solidFill>
                <a:latin typeface="Microsoft YaHei" panose="020B0503020204020204" charset="-122"/>
                <a:ea typeface="微软雅黑" panose="020B0503020204020204" charset="-122"/>
              </a:rPr>
              <a:t>信息效用驱动的弱质弱量协同多视图聚类</a:t>
            </a:r>
            <a:endParaRPr sz="28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97280" y="3493008"/>
            <a:ext cx="9875520" cy="45720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0717D"/>
                </a:solidFill>
                <a:latin typeface="Microsoft YaHei" panose="020B0503020204020204" charset="-122"/>
                <a:ea typeface="微软雅黑" panose="020B0503020204020204" charset="-122"/>
              </a:rPr>
              <a:t>面向完整多视图的低信噪比与少监督场景</a:t>
            </a:r>
            <a:endParaRPr sz="1900" b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97280" y="4133087"/>
            <a:ext cx="9875520" cy="36576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0717D"/>
                </a:solidFill>
                <a:latin typeface="Microsoft YaHei" panose="020B0503020204020204" charset="-122"/>
                <a:ea typeface="微软雅黑" panose="020B0503020204020204" charset="-122"/>
              </a:rPr>
              <a:t>关键词：</a:t>
            </a:r>
            <a:r>
              <a:rPr lang="zh-CN" sz="1500" b="0">
                <a:solidFill>
                  <a:srgbClr val="60717D"/>
                </a:solidFill>
                <a:latin typeface="Microsoft YaHei" panose="020B0503020204020204" charset="-122"/>
                <a:ea typeface="微软雅黑" panose="020B0503020204020204" charset="-122"/>
              </a:rPr>
              <a:t>锚点学习</a:t>
            </a:r>
            <a:r>
              <a:rPr sz="1500" b="0">
                <a:solidFill>
                  <a:srgbClr val="60717D"/>
                </a:solidFill>
                <a:latin typeface="Microsoft YaHei" panose="020B0503020204020204" charset="-122"/>
                <a:ea typeface="微软雅黑" panose="020B0503020204020204" charset="-122"/>
              </a:rPr>
              <a:t>  ·  观测噪声  ·  少量真实标签  ·  软语义关系</a:t>
            </a:r>
            <a:endParaRPr sz="1500" b="0">
              <a:solidFill>
                <a:srgbClr val="E4EAF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Rounded Rectangle 9"/>
          <p:cNvSpPr/>
          <p:nvPr>
            <p:custDataLst>
              <p:tags r:id="rId2"/>
            </p:custDataLst>
          </p:nvPr>
        </p:nvSpPr>
        <p:spPr>
          <a:xfrm>
            <a:off x="1097280" y="5230368"/>
            <a:ext cx="3017520" cy="51206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B9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11" name="Rounded Rectangle 10"/>
          <p:cNvSpPr/>
          <p:nvPr>
            <p:custDataLst>
              <p:tags r:id="rId3"/>
            </p:custDataLst>
          </p:nvPr>
        </p:nvSpPr>
        <p:spPr>
          <a:xfrm>
            <a:off x="4754880" y="5230368"/>
            <a:ext cx="3017520" cy="51206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B9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12" name="TextBox 11"/>
          <p:cNvSpPr txBox="1"/>
          <p:nvPr>
            <p:custDataLst>
              <p:tags r:id="rId4"/>
            </p:custDataLst>
          </p:nvPr>
        </p:nvSpPr>
        <p:spPr>
          <a:xfrm>
            <a:off x="1097280" y="5321808"/>
            <a:ext cx="3017520" cy="30175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0717D"/>
                </a:solidFill>
                <a:latin typeface="Microsoft YaHei" panose="020B0503020204020204" charset="-122"/>
                <a:ea typeface="微软雅黑" panose="020B0503020204020204" charset="-122"/>
              </a:rPr>
              <a:t>答辩人：</a:t>
            </a:r>
            <a:endParaRPr sz="1400" b="0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>
            <p:custDataLst>
              <p:tags r:id="rId5"/>
            </p:custDataLst>
          </p:nvPr>
        </p:nvSpPr>
        <p:spPr>
          <a:xfrm>
            <a:off x="4754880" y="5321808"/>
            <a:ext cx="3017520" cy="30175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0717D"/>
                </a:solidFill>
                <a:latin typeface="Microsoft YaHei" panose="020B0503020204020204" charset="-122"/>
                <a:ea typeface="微软雅黑" panose="020B0503020204020204" charset="-122"/>
              </a:rPr>
              <a:t>指导教师：</a:t>
            </a:r>
            <a:endParaRPr sz="1400" b="0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97280" y="6172200"/>
            <a:ext cx="3657600" cy="25603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0717D"/>
                </a:solidFill>
                <a:latin typeface="Microsoft YaHei" panose="020B0503020204020204" charset="-122"/>
                <a:ea typeface="微软雅黑" panose="020B0503020204020204" charset="-122"/>
              </a:rPr>
              <a:t>2026年1</a:t>
            </a:r>
            <a:r>
              <a:rPr lang="en-US" sz="1300" b="0">
                <a:solidFill>
                  <a:srgbClr val="60717D"/>
                </a:solidFill>
                <a:latin typeface="Microsoft YaHei" panose="020B0503020204020204" charset="-122"/>
                <a:ea typeface="微软雅黑" panose="020B0503020204020204" charset="-122"/>
              </a:rPr>
              <a:t>1</a:t>
            </a:r>
            <a:r>
              <a:rPr sz="1300" b="0">
                <a:solidFill>
                  <a:srgbClr val="60717D"/>
                </a:solidFill>
                <a:latin typeface="Microsoft YaHei" panose="020B0503020204020204" charset="-122"/>
                <a:ea typeface="微软雅黑" panose="020B0503020204020204" charset="-122"/>
              </a:rPr>
              <a:t>月</a:t>
            </a:r>
            <a:r>
              <a:rPr lang="en-US" sz="1300" b="0">
                <a:solidFill>
                  <a:srgbClr val="60717D"/>
                </a:solidFill>
                <a:latin typeface="Microsoft YaHei" panose="020B0503020204020204" charset="-122"/>
                <a:ea typeface="微软雅黑" panose="020B0503020204020204" charset="-122"/>
              </a:rPr>
              <a:t>1</a:t>
            </a:r>
            <a:r>
              <a:rPr lang="zh-CN" altLang="en-US" sz="1300" b="0">
                <a:solidFill>
                  <a:srgbClr val="60717D"/>
                </a:solidFill>
                <a:latin typeface="Microsoft YaHei" panose="020B0503020204020204" charset="-122"/>
                <a:ea typeface="微软雅黑" panose="020B0503020204020204" charset="-122"/>
              </a:rPr>
              <a:t>日</a:t>
            </a:r>
            <a:endParaRPr lang="zh-CN" altLang="en-US" sz="1300" b="0">
              <a:solidFill>
                <a:srgbClr val="65758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8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1005840" y="749808"/>
            <a:ext cx="3657600" cy="64008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83B55"/>
                </a:solidFill>
                <a:latin typeface="Microsoft YaHei" panose="020B0503020204020204" charset="-122"/>
                <a:ea typeface="微软雅黑" panose="020B0503020204020204" charset="-122"/>
              </a:rPr>
              <a:t>目录</a:t>
            </a:r>
            <a:endParaRPr sz="37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1920240" cy="292608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F8C96"/>
                </a:solidFill>
                <a:latin typeface="Microsoft YaHei" panose="020B0503020204020204" charset="-122"/>
                <a:ea typeface="微软雅黑" panose="020B0503020204020204" charset="-122"/>
              </a:rPr>
              <a:t>CONTENT</a:t>
            </a:r>
            <a:endParaRPr sz="1300" b="0">
              <a:solidFill>
                <a:srgbClr val="E2E7F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2057400" y="2057400"/>
            <a:ext cx="8138160" cy="640080"/>
          </a:xfrm>
          <a:prstGeom prst="roundRect">
            <a:avLst>
              <a:gd name="adj" fmla="val 16000"/>
            </a:avLst>
          </a:prstGeom>
          <a:solidFill>
            <a:srgbClr val="F5F7F8"/>
          </a:solidFill>
          <a:ln>
            <a:solidFill>
              <a:srgbClr val="E1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7" name="Rectangle 6"/>
          <p:cNvSpPr/>
          <p:nvPr/>
        </p:nvSpPr>
        <p:spPr>
          <a:xfrm>
            <a:off x="2057400" y="2057400"/>
            <a:ext cx="54864" cy="640080"/>
          </a:xfrm>
          <a:prstGeom prst="rect">
            <a:avLst/>
          </a:prstGeom>
          <a:solidFill>
            <a:srgbClr val="5F8C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2313432" y="2157984"/>
            <a:ext cx="731520" cy="39319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83B55"/>
                </a:solidFill>
                <a:latin typeface="Microsoft YaHei" panose="020B0503020204020204" charset="-122"/>
                <a:ea typeface="微软雅黑" panose="020B0503020204020204" charset="-122"/>
              </a:rPr>
              <a:t>01.</a:t>
            </a:r>
            <a:endParaRPr sz="2000" b="1">
              <a:solidFill>
                <a:srgbClr val="082F7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218688" y="2157984"/>
            <a:ext cx="6309360" cy="39319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53646"/>
                </a:solidFill>
                <a:latin typeface="Microsoft YaHei" panose="020B0503020204020204" charset="-122"/>
                <a:ea typeface="微软雅黑" panose="020B0503020204020204" charset="-122"/>
              </a:rPr>
              <a:t>研究背景及意义</a:t>
            </a:r>
            <a:endParaRPr sz="2000" b="1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2057400" y="3008376"/>
            <a:ext cx="8138160" cy="640080"/>
          </a:xfrm>
          <a:prstGeom prst="roundRect">
            <a:avLst>
              <a:gd name="adj" fmla="val 16000"/>
            </a:avLst>
          </a:prstGeom>
          <a:solidFill>
            <a:srgbClr val="F5F7F8"/>
          </a:solidFill>
          <a:ln>
            <a:solidFill>
              <a:srgbClr val="E1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11" name="Rectangle 10"/>
          <p:cNvSpPr/>
          <p:nvPr/>
        </p:nvSpPr>
        <p:spPr>
          <a:xfrm>
            <a:off x="2057400" y="3008376"/>
            <a:ext cx="54864" cy="640080"/>
          </a:xfrm>
          <a:prstGeom prst="rect">
            <a:avLst/>
          </a:prstGeom>
          <a:solidFill>
            <a:srgbClr val="5F8C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2313432" y="3108960"/>
            <a:ext cx="731520" cy="39319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83B55"/>
                </a:solidFill>
                <a:latin typeface="Microsoft YaHei" panose="020B0503020204020204" charset="-122"/>
                <a:ea typeface="微软雅黑" panose="020B0503020204020204" charset="-122"/>
              </a:rPr>
              <a:t>02.</a:t>
            </a:r>
            <a:endParaRPr sz="2000" b="1">
              <a:solidFill>
                <a:srgbClr val="082F7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218688" y="3108960"/>
            <a:ext cx="6309360" cy="39319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53646"/>
                </a:solidFill>
                <a:latin typeface="Microsoft YaHei" panose="020B0503020204020204" charset="-122"/>
                <a:ea typeface="微软雅黑" panose="020B0503020204020204" charset="-122"/>
              </a:rPr>
              <a:t>研究问题与思路</a:t>
            </a:r>
            <a:endParaRPr sz="2000" b="1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2057400" y="3959352"/>
            <a:ext cx="8138160" cy="640080"/>
          </a:xfrm>
          <a:prstGeom prst="roundRect">
            <a:avLst>
              <a:gd name="adj" fmla="val 16000"/>
            </a:avLst>
          </a:prstGeom>
          <a:solidFill>
            <a:srgbClr val="F5F7F8"/>
          </a:solidFill>
          <a:ln>
            <a:solidFill>
              <a:srgbClr val="E1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15" name="Rectangle 14"/>
          <p:cNvSpPr/>
          <p:nvPr/>
        </p:nvSpPr>
        <p:spPr>
          <a:xfrm>
            <a:off x="2057400" y="3959352"/>
            <a:ext cx="54864" cy="640080"/>
          </a:xfrm>
          <a:prstGeom prst="rect">
            <a:avLst/>
          </a:prstGeom>
          <a:solidFill>
            <a:srgbClr val="5F8C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2313432" y="4059936"/>
            <a:ext cx="731520" cy="39319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83B55"/>
                </a:solidFill>
                <a:latin typeface="Microsoft YaHei" panose="020B0503020204020204" charset="-122"/>
                <a:ea typeface="微软雅黑" panose="020B0503020204020204" charset="-122"/>
              </a:rPr>
              <a:t>03.</a:t>
            </a:r>
            <a:endParaRPr sz="2000" b="1">
              <a:solidFill>
                <a:srgbClr val="082F7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3218688" y="4059936"/>
            <a:ext cx="6309360" cy="39319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53646"/>
                </a:solidFill>
                <a:latin typeface="Microsoft YaHei" panose="020B0503020204020204" charset="-122"/>
                <a:ea typeface="微软雅黑" panose="020B0503020204020204" charset="-122"/>
              </a:rPr>
              <a:t>研究方法与技术路线</a:t>
            </a:r>
            <a:endParaRPr sz="2000" b="1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2057400" y="4910328"/>
            <a:ext cx="8138160" cy="640080"/>
          </a:xfrm>
          <a:prstGeom prst="roundRect">
            <a:avLst>
              <a:gd name="adj" fmla="val 16000"/>
            </a:avLst>
          </a:prstGeom>
          <a:solidFill>
            <a:srgbClr val="F5F7F8"/>
          </a:solidFill>
          <a:ln>
            <a:solidFill>
              <a:srgbClr val="E1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19" name="Rectangle 18"/>
          <p:cNvSpPr/>
          <p:nvPr/>
        </p:nvSpPr>
        <p:spPr>
          <a:xfrm>
            <a:off x="2057400" y="4910328"/>
            <a:ext cx="54864" cy="640080"/>
          </a:xfrm>
          <a:prstGeom prst="rect">
            <a:avLst/>
          </a:prstGeom>
          <a:solidFill>
            <a:srgbClr val="5F8C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2313432" y="5010912"/>
            <a:ext cx="731520" cy="39319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83B55"/>
                </a:solidFill>
                <a:latin typeface="Microsoft YaHei" panose="020B0503020204020204" charset="-122"/>
                <a:ea typeface="微软雅黑" panose="020B0503020204020204" charset="-122"/>
              </a:rPr>
              <a:t>04.</a:t>
            </a:r>
            <a:endParaRPr sz="2000" b="1">
              <a:solidFill>
                <a:srgbClr val="082F7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3218688" y="5010912"/>
            <a:ext cx="6309360" cy="39319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53646"/>
                </a:solidFill>
                <a:latin typeface="Microsoft YaHei" panose="020B0503020204020204" charset="-122"/>
                <a:ea typeface="微软雅黑" panose="020B0503020204020204" charset="-122"/>
              </a:rPr>
              <a:t>实验设计与计划</a:t>
            </a:r>
            <a:endParaRPr sz="2000" b="1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8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1051560" y="1517904"/>
            <a:ext cx="2194560" cy="86868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5F8C96"/>
                </a:solidFill>
                <a:latin typeface="Microsoft YaHei" panose="020B0503020204020204" charset="-122"/>
                <a:ea typeface="微软雅黑" panose="020B0503020204020204" charset="-122"/>
              </a:rPr>
              <a:t>01</a:t>
            </a:r>
            <a:endParaRPr sz="4800" b="1">
              <a:solidFill>
                <a:srgbClr val="D9B97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97280" y="2523744"/>
            <a:ext cx="3200400" cy="292608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F8C96"/>
                </a:solidFill>
                <a:latin typeface="Microsoft YaHei" panose="020B0503020204020204" charset="-122"/>
                <a:ea typeface="微软雅黑" panose="020B0503020204020204" charset="-122"/>
              </a:rPr>
              <a:t>PART ONE</a:t>
            </a:r>
            <a:endParaRPr sz="1300" b="1">
              <a:solidFill>
                <a:srgbClr val="D9B97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1097280" y="3035808"/>
            <a:ext cx="1188720" cy="0"/>
          </a:xfrm>
          <a:prstGeom prst="line">
            <a:avLst/>
          </a:prstGeom>
          <a:ln w="12700">
            <a:solidFill>
              <a:srgbClr val="5F8C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78992" y="3291840"/>
            <a:ext cx="9784080" cy="91440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183B55"/>
                </a:solidFill>
                <a:latin typeface="Microsoft YaHei" panose="020B0503020204020204" charset="-122"/>
                <a:ea typeface="微软雅黑" panose="020B0503020204020204" charset="-122"/>
              </a:rPr>
              <a:t>研究背景及意义</a:t>
            </a:r>
            <a:endParaRPr sz="33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347472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4" name="Rectangle 3"/>
          <p:cNvSpPr/>
          <p:nvPr/>
        </p:nvSpPr>
        <p:spPr>
          <a:xfrm>
            <a:off x="914400" y="310896"/>
            <a:ext cx="2057400" cy="32004"/>
          </a:xfrm>
          <a:prstGeom prst="rect">
            <a:avLst/>
          </a:prstGeom>
          <a:solidFill>
            <a:srgbClr val="5F8C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749808" y="59436"/>
            <a:ext cx="2194560" cy="22860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83B55"/>
                </a:solidFill>
                <a:latin typeface="Microsoft YaHei" panose="020B0503020204020204" charset="-122"/>
                <a:ea typeface="微软雅黑" panose="020B0503020204020204" charset="-122"/>
              </a:rPr>
              <a:t>研究背景及意义</a:t>
            </a:r>
            <a:endParaRPr sz="1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236976" y="59436"/>
            <a:ext cx="2194560" cy="22860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0717D"/>
                </a:solidFill>
                <a:latin typeface="Microsoft YaHei" panose="020B0503020204020204" charset="-122"/>
                <a:ea typeface="微软雅黑" panose="020B0503020204020204" charset="-122"/>
              </a:rPr>
              <a:t>研究问题与思路</a:t>
            </a:r>
            <a:endParaRPr sz="1280" b="0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8" name="Connector 7"/>
          <p:cNvCxnSpPr/>
          <p:nvPr/>
        </p:nvCxnSpPr>
        <p:spPr>
          <a:xfrm>
            <a:off x="320040" y="2359152"/>
            <a:ext cx="1490472" cy="0"/>
          </a:xfrm>
          <a:prstGeom prst="line">
            <a:avLst/>
          </a:prstGeom>
          <a:ln w="8255">
            <a:noFill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724144" y="59436"/>
            <a:ext cx="2194560" cy="22860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0717D"/>
                </a:solidFill>
                <a:latin typeface="Microsoft YaHei" panose="020B0503020204020204" charset="-122"/>
                <a:ea typeface="微软雅黑" panose="020B0503020204020204" charset="-122"/>
              </a:rPr>
              <a:t>研究方法与技术路线</a:t>
            </a:r>
            <a:endParaRPr sz="1280" b="0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10" name="Connector 9"/>
          <p:cNvCxnSpPr/>
          <p:nvPr/>
        </p:nvCxnSpPr>
        <p:spPr>
          <a:xfrm>
            <a:off x="320040" y="3081528"/>
            <a:ext cx="1490472" cy="0"/>
          </a:xfrm>
          <a:prstGeom prst="line">
            <a:avLst/>
          </a:prstGeom>
          <a:ln w="8255">
            <a:noFill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211312" y="59436"/>
            <a:ext cx="2194560" cy="22860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0717D"/>
                </a:solidFill>
                <a:latin typeface="Microsoft YaHei" panose="020B0503020204020204" charset="-122"/>
                <a:ea typeface="微软雅黑" panose="020B0503020204020204" charset="-122"/>
              </a:rPr>
              <a:t>实验设计与计划</a:t>
            </a:r>
            <a:endParaRPr sz="1280" b="0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12" name="Picture 11" descr="logo_src_1_2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0" y="5961888"/>
            <a:ext cx="594360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13232" y="475488"/>
            <a:ext cx="10789920" cy="475488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83B55"/>
                </a:solidFill>
                <a:latin typeface="Microsoft YaHei" panose="020B0503020204020204" charset="-122"/>
                <a:ea typeface="微软雅黑" panose="020B0503020204020204" charset="-122"/>
              </a:rPr>
              <a:t>1.1 </a:t>
            </a:r>
            <a:r>
              <a:rPr lang="zh-CN" sz="2200" b="1">
                <a:solidFill>
                  <a:srgbClr val="183B55"/>
                </a:solidFill>
                <a:latin typeface="Microsoft YaHei" panose="020B0503020204020204" charset="-122"/>
                <a:ea typeface="微软雅黑" panose="020B0503020204020204" charset="-122"/>
              </a:rPr>
              <a:t>真实多视图场景：弱质与弱量并存</a:t>
            </a:r>
            <a:endParaRPr lang="zh-CN" sz="2100" b="1">
              <a:solidFill>
                <a:srgbClr val="082F7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713232" y="941832"/>
            <a:ext cx="10698480" cy="24688"/>
          </a:xfrm>
          <a:prstGeom prst="rect">
            <a:avLst/>
          </a:prstGeom>
          <a:solidFill>
            <a:srgbClr val="5F8C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11311128" y="6565392"/>
            <a:ext cx="502920" cy="210312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0717D"/>
                </a:solidFill>
                <a:latin typeface="Microsoft YaHei" panose="020B0503020204020204" charset="-122"/>
                <a:ea typeface="微软雅黑" panose="020B0503020204020204" charset="-122"/>
              </a:rPr>
              <a:t>04</a:t>
            </a:r>
            <a:endParaRPr sz="900" b="0">
              <a:solidFill>
                <a:srgbClr val="65758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9052102" y="2377440"/>
            <a:ext cx="2071573" cy="329184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Microsoft YaHei" panose="020B0503020204020204" charset="-122"/>
                <a:ea typeface="微软雅黑" panose="020B0503020204020204" charset="-122"/>
              </a:rPr>
              <a:t>形状视图</a:t>
            </a:r>
            <a:endParaRPr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7" name="文本框 106"/>
          <p:cNvSpPr txBox="1"/>
          <p:nvPr/>
        </p:nvSpPr>
        <p:spPr>
          <a:xfrm>
            <a:off x="1350009" y="4919345"/>
            <a:ext cx="4596923" cy="9220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>
              <a:spcBef>
                <a:spcPts val="0"/>
              </a:spcBef>
              <a:spcAft>
                <a:spcPts val="0"/>
              </a:spcAft>
            </a:pPr>
            <a:r>
              <a:rPr lang="zh-CN" altLang="en-US">
                <a:solidFill/>
                <a:latin typeface="Microsoft YaHei" panose="020B0503020204020204" charset="-122"/>
                <a:ea typeface="微软雅黑" panose="020B0503020204020204" charset="-122"/>
              </a:rPr>
              <a:t>所有视图均有观测，但是部分视图受到噪声干扰，可能会影响跨视图信息融合</a:t>
            </a:r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8" name="文本框 107"/>
          <p:cNvSpPr txBox="1"/>
          <p:nvPr/>
        </p:nvSpPr>
        <p:spPr>
          <a:xfrm>
            <a:off x="6326663" y="4933315"/>
            <a:ext cx="4454524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>
              <a:spcBef>
                <a:spcPts val="0"/>
              </a:spcBef>
              <a:spcAft>
                <a:spcPts val="0"/>
              </a:spcAft>
            </a:pPr>
            <a:r>
              <a:rPr lang="zh-CN" altLang="en-US">
                <a:solidFill/>
                <a:latin typeface="Microsoft YaHei" panose="020B0503020204020204" charset="-122"/>
                <a:ea typeface="微软雅黑" panose="020B0503020204020204" charset="-122"/>
              </a:rPr>
              <a:t>少量样本具有真实标签，大量的无样本标签缺乏直接的类别语义指导</a:t>
            </a:r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6" name="图片 5" descr="观测质量不均与标签稀缺示意图"/>
          <p:cNvPicPr>
            <a:picLocks noChangeAspect="1"/>
          </p:cNvPicPr>
          <p:nvPr/>
        </p:nvPicPr>
        <p:blipFill>
          <a:blip r:embed="rId2"/>
          <a:srcRect l="51813" t="12647" r="2480" b="10700"/>
          <a:stretch>
            <a:fillRect/>
          </a:stretch>
        </p:blipFill>
        <p:spPr>
          <a:xfrm>
            <a:off x="6326663" y="1572895"/>
            <a:ext cx="3919855" cy="2555240"/>
          </a:xfrm>
          <a:prstGeom prst="rect">
            <a:avLst/>
          </a:prstGeom>
        </p:spPr>
      </p:pic>
      <p:pic>
        <p:nvPicPr>
          <p:cNvPr id="16" name="图片 15" descr="观测质量不均与标签稀缺示意图"/>
          <p:cNvPicPr>
            <a:picLocks noChangeAspect="1"/>
          </p:cNvPicPr>
          <p:nvPr/>
        </p:nvPicPr>
        <p:blipFill>
          <a:blip r:embed="rId2"/>
          <a:srcRect l="1844" t="13314" r="50861" b="11608"/>
          <a:stretch>
            <a:fillRect/>
          </a:stretch>
        </p:blipFill>
        <p:spPr>
          <a:xfrm>
            <a:off x="1250696" y="1635760"/>
            <a:ext cx="4081145" cy="251841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88952" cy="347472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4" name="Rectangle 3"/>
          <p:cNvSpPr/>
          <p:nvPr/>
        </p:nvSpPr>
        <p:spPr>
          <a:xfrm>
            <a:off x="914400" y="310896"/>
            <a:ext cx="2057400" cy="32004"/>
          </a:xfrm>
          <a:prstGeom prst="rect">
            <a:avLst/>
          </a:prstGeom>
          <a:solidFill>
            <a:srgbClr val="5F8C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749808" y="59436"/>
            <a:ext cx="2194560" cy="22860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83B55"/>
                </a:solidFill>
                <a:latin typeface="Microsoft YaHei" panose="020B0503020204020204" charset="-122"/>
                <a:ea typeface="微软雅黑" panose="020B0503020204020204" charset="-122"/>
              </a:rPr>
              <a:t>研究背景及意义</a:t>
            </a:r>
            <a:endParaRPr sz="1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236976" y="59436"/>
            <a:ext cx="2194560" cy="22860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0717D"/>
                </a:solidFill>
                <a:latin typeface="Microsoft YaHei" panose="020B0503020204020204" charset="-122"/>
                <a:ea typeface="微软雅黑" panose="020B0503020204020204" charset="-122"/>
              </a:rPr>
              <a:t>研究问题与思路</a:t>
            </a:r>
            <a:endParaRPr sz="1280" b="0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8" name="Connector 7"/>
          <p:cNvCxnSpPr/>
          <p:nvPr/>
        </p:nvCxnSpPr>
        <p:spPr>
          <a:xfrm>
            <a:off x="320040" y="2359152"/>
            <a:ext cx="1490472" cy="0"/>
          </a:xfrm>
          <a:prstGeom prst="line">
            <a:avLst/>
          </a:prstGeom>
          <a:ln w="8255">
            <a:noFill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724144" y="59436"/>
            <a:ext cx="2194560" cy="22860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0717D"/>
                </a:solidFill>
                <a:latin typeface="Microsoft YaHei" panose="020B0503020204020204" charset="-122"/>
                <a:ea typeface="微软雅黑" panose="020B0503020204020204" charset="-122"/>
              </a:rPr>
              <a:t>研究方法与技术路线</a:t>
            </a:r>
            <a:endParaRPr sz="1280" b="0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10" name="Connector 9"/>
          <p:cNvCxnSpPr/>
          <p:nvPr/>
        </p:nvCxnSpPr>
        <p:spPr>
          <a:xfrm>
            <a:off x="320040" y="3081528"/>
            <a:ext cx="1490472" cy="0"/>
          </a:xfrm>
          <a:prstGeom prst="line">
            <a:avLst/>
          </a:prstGeom>
          <a:ln w="8255">
            <a:noFill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211312" y="59436"/>
            <a:ext cx="2194560" cy="22860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0717D"/>
                </a:solidFill>
                <a:latin typeface="Microsoft YaHei" panose="020B0503020204020204" charset="-122"/>
                <a:ea typeface="微软雅黑" panose="020B0503020204020204" charset="-122"/>
              </a:rPr>
              <a:t>实验设计与计划</a:t>
            </a:r>
            <a:endParaRPr sz="1280" b="0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12" name="Picture 11" descr="logo_src_1_2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0" y="5961888"/>
            <a:ext cx="594360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13232" y="475488"/>
            <a:ext cx="10789920" cy="475488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83B55"/>
                </a:solidFill>
                <a:latin typeface="Microsoft YaHei" panose="020B0503020204020204" charset="-122"/>
                <a:ea typeface="微软雅黑" panose="020B0503020204020204" charset="-122"/>
              </a:rPr>
              <a:t>1.</a:t>
            </a:r>
            <a:r>
              <a:rPr lang="en-US" sz="2200" b="1">
                <a:solidFill>
                  <a:srgbClr val="183B55"/>
                </a:solidFill>
                <a:latin typeface="Microsoft YaHei" panose="020B0503020204020204" charset="-122"/>
                <a:ea typeface="微软雅黑" panose="020B0503020204020204" charset="-122"/>
              </a:rPr>
              <a:t>2</a:t>
            </a:r>
            <a:r>
              <a:rPr sz="2200" b="1">
                <a:solidFill>
                  <a:srgbClr val="183B55"/>
                </a:solidFill>
                <a:latin typeface="Microsoft YaHei" panose="020B0503020204020204" charset="-122"/>
                <a:ea typeface="微软雅黑" panose="020B0503020204020204" charset="-122"/>
              </a:rPr>
              <a:t> 相关研究进展与仍需解决的问题</a:t>
            </a:r>
            <a:endParaRPr sz="2100" b="1">
              <a:solidFill>
                <a:srgbClr val="082F7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713232" y="941832"/>
            <a:ext cx="10698480" cy="24688"/>
          </a:xfrm>
          <a:prstGeom prst="rect">
            <a:avLst/>
          </a:prstGeom>
          <a:solidFill>
            <a:srgbClr val="5F8C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11311128" y="6584506"/>
            <a:ext cx="502920" cy="172085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0717D"/>
                </a:solidFill>
                <a:latin typeface="Microsoft YaHei" panose="020B0503020204020204" charset="-122"/>
                <a:ea typeface="微软雅黑" panose="020B0503020204020204" charset="-122"/>
              </a:rPr>
              <a:t>0</a:t>
            </a:r>
            <a:r>
              <a:rPr lang="en-US" sz="900" b="0">
                <a:solidFill>
                  <a:srgbClr val="60717D"/>
                </a:solidFill>
                <a:latin typeface="Microsoft YaHei" panose="020B0503020204020204" charset="-122"/>
                <a:ea typeface="微软雅黑" panose="020B0503020204020204" charset="-122"/>
              </a:rPr>
              <a:t>5</a:t>
            </a:r>
            <a:endParaRPr lang="en-US" sz="900" b="0">
              <a:solidFill>
                <a:srgbClr val="65758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pSp>
        <p:nvGrpSpPr>
          <p:cNvPr id="43" name="组合 42"/>
          <p:cNvGrpSpPr/>
          <p:nvPr/>
        </p:nvGrpSpPr>
        <p:grpSpPr>
          <a:xfrm>
            <a:off x="542353" y="1971675"/>
            <a:ext cx="9521825" cy="2642870"/>
            <a:chOff x="3653" y="2633"/>
            <a:chExt cx="14995" cy="4162"/>
          </a:xfrm>
        </p:grpSpPr>
        <p:cxnSp>
          <p:nvCxnSpPr>
            <p:cNvPr id="31" name="直接连接符 30"/>
            <p:cNvCxnSpPr/>
            <p:nvPr/>
          </p:nvCxnSpPr>
          <p:spPr>
            <a:xfrm>
              <a:off x="8198" y="3715"/>
              <a:ext cx="0" cy="308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接连接符 33"/>
            <p:cNvCxnSpPr/>
            <p:nvPr/>
          </p:nvCxnSpPr>
          <p:spPr>
            <a:xfrm>
              <a:off x="13512" y="3715"/>
              <a:ext cx="0" cy="308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文本框 34"/>
            <p:cNvSpPr txBox="1"/>
            <p:nvPr/>
          </p:nvSpPr>
          <p:spPr>
            <a:xfrm>
              <a:off x="3653" y="2633"/>
              <a:ext cx="4545" cy="5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l">
                <a:lnSpc>
                  <a:spcPct val="112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</a:pPr>
              <a:r>
                <a:rPr sz="1600" b="1">
                  <a:solidFill>
                    <a:srgbClr val="0A398A"/>
                  </a:solidFill>
                  <a:latin typeface="微软雅黑" panose="020B0503020204020204" charset="-122"/>
                  <a:ea typeface="微软雅黑" panose="020B0503020204020204" charset="-122"/>
                </a:rPr>
                <a:t>多视图结构与一致性学习</a:t>
              </a:r>
              <a:r>
                <a:rPr lang="zh-CN" sz="1600" b="1">
                  <a:solidFill>
                    <a:srgbClr val="0A398A"/>
                  </a:solidFill>
                  <a:latin typeface="微软雅黑" panose="020B0503020204020204" charset="-122"/>
                  <a:ea typeface="微软雅黑" panose="020B0503020204020204" charset="-122"/>
                </a:rPr>
                <a:t>方法</a:t>
              </a:r>
              <a:endParaRPr lang="zh-CN" sz="1600" b="1">
                <a:solidFill>
                  <a:srgbClr val="0A398A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36" name="文本框 35"/>
            <p:cNvSpPr txBox="1"/>
            <p:nvPr/>
          </p:nvSpPr>
          <p:spPr>
            <a:xfrm>
              <a:off x="3777" y="3614"/>
              <a:ext cx="4008" cy="24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1600">
                  <a:latin typeface="微软雅黑" panose="020B0503020204020204" charset="-122"/>
                  <a:ea typeface="微软雅黑" panose="020B0503020204020204" charset="-122"/>
                </a:rPr>
                <a:t>研究进展：通过深度表示与跨视图对比约束，挖掘视图间的共有结构与潜在特征。然而盲目的全局一致性对齐，可能会缺乏对局部动作有效性的判断。</a:t>
              </a:r>
              <a:endParaRPr lang="zh-CN" altLang="en-US" sz="1600"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37" name="文本框 36"/>
            <p:cNvSpPr txBox="1"/>
            <p:nvPr/>
          </p:nvSpPr>
          <p:spPr>
            <a:xfrm>
              <a:off x="9147" y="2633"/>
              <a:ext cx="4040" cy="5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l">
                <a:lnSpc>
                  <a:spcPct val="112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</a:pPr>
              <a:r>
                <a:rPr lang="zh-CN" sz="1600" b="1">
                  <a:solidFill>
                    <a:srgbClr val="0A398A"/>
                  </a:solidFill>
                  <a:latin typeface="微软雅黑" panose="020B0503020204020204" charset="-122"/>
                  <a:ea typeface="微软雅黑" panose="020B0503020204020204" charset="-122"/>
                </a:rPr>
                <a:t>噪声鲁棒多视图聚类方法</a:t>
              </a:r>
              <a:endParaRPr lang="zh-CN" sz="1600" b="1">
                <a:solidFill>
                  <a:srgbClr val="0A398A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8646" y="3642"/>
              <a:ext cx="4406" cy="24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1600">
                  <a:latin typeface="微软雅黑" panose="020B0503020204020204" charset="-122"/>
                  <a:ea typeface="微软雅黑" panose="020B0503020204020204" charset="-122"/>
                </a:rPr>
                <a:t>研究进展：大多通过低秩恢复、噪声过滤或可靠性感知等机制，减弱不可靠视图的干扰。在缺乏显式的语义指导，纯无监督去噪过度依赖数据自身分布。</a:t>
              </a:r>
              <a:endParaRPr lang="zh-CN" altLang="en-US" sz="1600"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4256" y="2633"/>
              <a:ext cx="4040" cy="5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l">
                <a:lnSpc>
                  <a:spcPct val="112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</a:pPr>
              <a:r>
                <a:rPr lang="zh-CN" sz="1600" b="1">
                  <a:solidFill>
                    <a:srgbClr val="0A398A"/>
                  </a:solidFill>
                  <a:latin typeface="微软雅黑" panose="020B0503020204020204" charset="-122"/>
                  <a:ea typeface="微软雅黑" panose="020B0503020204020204" charset="-122"/>
                </a:rPr>
                <a:t>半监督和联合优化方法</a:t>
              </a:r>
              <a:endParaRPr lang="zh-CN" sz="1600" b="1">
                <a:solidFill>
                  <a:srgbClr val="0A398A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13819" y="3642"/>
              <a:ext cx="4829" cy="285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1600">
                  <a:latin typeface="微软雅黑" panose="020B0503020204020204" charset="-122"/>
                  <a:ea typeface="微软雅黑" panose="020B0503020204020204" charset="-122"/>
                </a:rPr>
                <a:t>研究进展：尝试引入少量标签或成对约束，将其作为正则项或者联合损失，与聚类目标共同优化。</a:t>
              </a:r>
              <a:endParaRPr lang="zh-CN" altLang="en-US" sz="1600">
                <a:latin typeface="微软雅黑" panose="020B0503020204020204" charset="-122"/>
                <a:ea typeface="微软雅黑" panose="020B0503020204020204" charset="-122"/>
              </a:endParaRPr>
            </a:p>
            <a:p>
              <a:r>
                <a:rPr lang="zh-CN" altLang="en-US" sz="1600">
                  <a:latin typeface="微软雅黑" panose="020B0503020204020204" charset="-122"/>
                  <a:ea typeface="微软雅黑" panose="020B0503020204020204" charset="-122"/>
                </a:rPr>
                <a:t>但可能存在在强耦合下的语义漂移，现有方法多采用损失相加等硬性融合，当观测噪声极高时，可能导致结构崩塌。</a:t>
              </a:r>
              <a:endParaRPr lang="zh-CN" altLang="en-US" sz="1600"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</p:grpSp>
      <p:sp>
        <p:nvSpPr>
          <p:cNvPr id="41" name="Rounded Rectangle 31"/>
          <p:cNvSpPr/>
          <p:nvPr/>
        </p:nvSpPr>
        <p:spPr>
          <a:xfrm>
            <a:off x="1133855" y="5620131"/>
            <a:ext cx="9611258" cy="448056"/>
          </a:xfrm>
          <a:prstGeom prst="roundRect">
            <a:avLst>
              <a:gd name="adj" fmla="val 16000"/>
            </a:avLst>
          </a:prstGeom>
          <a:solidFill>
            <a:srgbClr val="EA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>
                <a:solidFill>
                  <a:schemeClr val="tx2">
                    <a:lumMod val="75000"/>
                  </a:schemeClr>
                </a:solidFill>
                <a:latin typeface="Microsoft YaHei" panose="020B0503020204020204" charset="-122"/>
                <a:ea typeface="微软雅黑" panose="020B0503020204020204" charset="-122"/>
              </a:rPr>
              <a:t>共同问题：如何协调跨视图预测可靠性和有限类别语义监督？</a:t>
            </a:r>
            <a:endParaRPr lang="zh-CN">
              <a:solidFill>
                <a:schemeClr val="tx2">
                  <a:lumMod val="75000"/>
                </a:scheme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632174" y="1085215"/>
            <a:ext cx="8824341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>
              <a:spcBef>
                <a:spcPts val="0"/>
              </a:spcBef>
              <a:spcAft>
                <a:spcPts val="0"/>
              </a:spcAft>
            </a:pPr>
            <a:r>
              <a:rPr lang="zh-CN" altLang="en-US">
                <a:solidFill/>
                <a:latin typeface="Microsoft YaHei" panose="020B0503020204020204" charset="-122"/>
                <a:ea typeface="微软雅黑" panose="020B0503020204020204" charset="-122"/>
              </a:rPr>
              <a:t>针对上述挑战，现有研究主要涵盖以下三个演进方向：</a:t>
            </a:r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8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1051560" y="1517904"/>
            <a:ext cx="2194560" cy="86868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5F8C96"/>
                </a:solidFill>
                <a:latin typeface="Microsoft YaHei" panose="020B0503020204020204" charset="-122"/>
                <a:ea typeface="微软雅黑" panose="020B0503020204020204" charset="-122"/>
              </a:rPr>
              <a:t>02</a:t>
            </a:r>
            <a:endParaRPr sz="4800" b="1">
              <a:solidFill>
                <a:srgbClr val="D9B97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97280" y="2523744"/>
            <a:ext cx="3200400" cy="292608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F8C96"/>
                </a:solidFill>
                <a:latin typeface="Microsoft YaHei" panose="020B0503020204020204" charset="-122"/>
                <a:ea typeface="微软雅黑" panose="020B0503020204020204" charset="-122"/>
              </a:rPr>
              <a:t>PART TWO</a:t>
            </a:r>
            <a:endParaRPr sz="1300" b="1">
              <a:solidFill>
                <a:srgbClr val="D9B97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1097280" y="3035808"/>
            <a:ext cx="1188720" cy="0"/>
          </a:xfrm>
          <a:prstGeom prst="line">
            <a:avLst/>
          </a:prstGeom>
          <a:ln w="12700">
            <a:solidFill>
              <a:srgbClr val="5F8C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78992" y="3291840"/>
            <a:ext cx="9784080" cy="91440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183B55"/>
                </a:solidFill>
                <a:latin typeface="Microsoft YaHei" panose="020B0503020204020204" charset="-122"/>
                <a:ea typeface="微软雅黑" panose="020B0503020204020204" charset="-122"/>
              </a:rPr>
              <a:t>研究问题与思路</a:t>
            </a:r>
            <a:endParaRPr sz="33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88952" cy="347472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749808" y="59436"/>
            <a:ext cx="2194560" cy="22860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0717D"/>
                </a:solidFill>
                <a:latin typeface="Microsoft YaHei" panose="020B0503020204020204" charset="-122"/>
                <a:ea typeface="微软雅黑" panose="020B0503020204020204" charset="-122"/>
              </a:rPr>
              <a:t>研究背景及意义</a:t>
            </a:r>
            <a:endParaRPr sz="1280" b="0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320040" y="1636776"/>
            <a:ext cx="1490472" cy="0"/>
          </a:xfrm>
          <a:prstGeom prst="line">
            <a:avLst/>
          </a:prstGeom>
          <a:ln w="8255">
            <a:noFill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3401568" y="310896"/>
            <a:ext cx="2057400" cy="32004"/>
          </a:xfrm>
          <a:prstGeom prst="rect">
            <a:avLst/>
          </a:prstGeom>
          <a:solidFill>
            <a:srgbClr val="5F8C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3236976" y="59436"/>
            <a:ext cx="2194560" cy="22860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83B55"/>
                </a:solidFill>
                <a:latin typeface="Microsoft YaHei" panose="020B0503020204020204" charset="-122"/>
                <a:ea typeface="微软雅黑" panose="020B0503020204020204" charset="-122"/>
              </a:rPr>
              <a:t>研究问题与思路</a:t>
            </a:r>
            <a:endParaRPr sz="1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724144" y="59436"/>
            <a:ext cx="2194560" cy="22860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0717D"/>
                </a:solidFill>
                <a:latin typeface="Microsoft YaHei" panose="020B0503020204020204" charset="-122"/>
                <a:ea typeface="微软雅黑" panose="020B0503020204020204" charset="-122"/>
              </a:rPr>
              <a:t>研究方法与技术路线</a:t>
            </a:r>
            <a:endParaRPr sz="1280" b="0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10" name="Connector 9"/>
          <p:cNvCxnSpPr/>
          <p:nvPr/>
        </p:nvCxnSpPr>
        <p:spPr>
          <a:xfrm>
            <a:off x="320040" y="3081528"/>
            <a:ext cx="1490472" cy="0"/>
          </a:xfrm>
          <a:prstGeom prst="line">
            <a:avLst/>
          </a:prstGeom>
          <a:ln w="8255">
            <a:noFill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211312" y="59436"/>
            <a:ext cx="2194560" cy="22860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0717D"/>
                </a:solidFill>
                <a:latin typeface="Microsoft YaHei" panose="020B0503020204020204" charset="-122"/>
                <a:ea typeface="微软雅黑" panose="020B0503020204020204" charset="-122"/>
              </a:rPr>
              <a:t>实验设计与计划</a:t>
            </a:r>
            <a:endParaRPr sz="1280" b="0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12" name="Picture 11" descr="logo_src_1_2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0" y="5961888"/>
            <a:ext cx="594360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13232" y="475488"/>
            <a:ext cx="10789920" cy="475488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83B55"/>
                </a:solidFill>
                <a:latin typeface="Microsoft YaHei" panose="020B0503020204020204" charset="-122"/>
                <a:ea typeface="微软雅黑" panose="020B0503020204020204" charset="-122"/>
              </a:rPr>
              <a:t>2.1 问题设定</a:t>
            </a:r>
            <a:endParaRPr sz="2100" b="1">
              <a:solidFill>
                <a:srgbClr val="082F7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713232" y="941832"/>
            <a:ext cx="10698480" cy="24688"/>
          </a:xfrm>
          <a:prstGeom prst="rect">
            <a:avLst/>
          </a:prstGeom>
          <a:solidFill>
            <a:srgbClr val="5F8C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11311128" y="6584506"/>
            <a:ext cx="502920" cy="172085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0717D"/>
                </a:solidFill>
                <a:latin typeface="Microsoft YaHei" panose="020B0503020204020204" charset="-122"/>
                <a:ea typeface="微软雅黑" panose="020B0503020204020204" charset="-122"/>
              </a:rPr>
              <a:t>0</a:t>
            </a:r>
            <a:r>
              <a:rPr lang="en-US" sz="900" b="0">
                <a:solidFill>
                  <a:srgbClr val="60717D"/>
                </a:solidFill>
                <a:latin typeface="Microsoft YaHei" panose="020B0503020204020204" charset="-122"/>
                <a:ea typeface="微软雅黑" panose="020B0503020204020204" charset="-122"/>
              </a:rPr>
              <a:t>7</a:t>
            </a:r>
            <a:endParaRPr lang="en-US" sz="900" b="0">
              <a:solidFill>
                <a:srgbClr val="65758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913028" y="1358265"/>
            <a:ext cx="2313432" cy="328930"/>
          </a:xfrm>
          <a:prstGeom prst="rect">
            <a:avLst/>
          </a:prstGeom>
          <a:noFill/>
        </p:spPr>
        <p:txBody>
          <a:bodyPr wrap="square" lIns="9144" tIns="7315" rIns="9144" bIns="7315" anchor="ctr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183B55"/>
                </a:solidFill>
                <a:latin typeface="Microsoft YaHei" panose="020B0503020204020204" charset="-122"/>
              </a:rPr>
              <a:t>研究条件</a:t>
            </a:r>
            <a:endParaRPr b="1">
              <a:solidFill>
                <a:srgbClr val="082F78"/>
              </a:solidFill>
              <a:latin typeface="微软雅黑" panose="020B0503020204020204" charset="-122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6107588" y="1356868"/>
            <a:ext cx="3049523" cy="328930"/>
          </a:xfrm>
          <a:prstGeom prst="rect">
            <a:avLst/>
          </a:prstGeom>
          <a:noFill/>
        </p:spPr>
        <p:txBody>
          <a:bodyPr wrap="square" lIns="9144" tIns="7315" rIns="9144" bIns="7315" anchor="ctr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183B55"/>
                </a:solidFill>
                <a:latin typeface="Microsoft YaHei" panose="020B0503020204020204" charset="-122"/>
              </a:rPr>
              <a:t>由此产生的关键困难</a:t>
            </a:r>
            <a:endParaRPr b="1">
              <a:solidFill>
                <a:srgbClr val="082F78"/>
              </a:solidFill>
              <a:latin typeface="微软雅黑" panose="020B0503020204020204" charset="-122"/>
            </a:endParaRPr>
          </a:p>
        </p:txBody>
      </p:sp>
      <p:grpSp>
        <p:nvGrpSpPr>
          <p:cNvPr id="97" name="组合 96"/>
          <p:cNvGrpSpPr/>
          <p:nvPr/>
        </p:nvGrpSpPr>
        <p:grpSpPr>
          <a:xfrm>
            <a:off x="6108319" y="2042160"/>
            <a:ext cx="4243070" cy="3147695"/>
            <a:chOff x="11275" y="2686"/>
            <a:chExt cx="6682" cy="4957"/>
          </a:xfrm>
        </p:grpSpPr>
        <p:sp>
          <p:nvSpPr>
            <p:cNvPr id="54" name="Rounded Rectangle 53"/>
            <p:cNvSpPr/>
            <p:nvPr/>
          </p:nvSpPr>
          <p:spPr>
            <a:xfrm>
              <a:off x="11275" y="2686"/>
              <a:ext cx="6682" cy="2261"/>
            </a:xfrm>
            <a:prstGeom prst="roundRect">
              <a:avLst/>
            </a:prstGeom>
            <a:solidFill>
              <a:srgbClr val="FFFFFF"/>
            </a:solidFill>
            <a:ln w="13970">
              <a:solidFill>
                <a:srgbClr val="D1DAE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6" name="Oval 55"/>
            <p:cNvSpPr/>
            <p:nvPr/>
          </p:nvSpPr>
          <p:spPr>
            <a:xfrm>
              <a:off x="11534" y="2808"/>
              <a:ext cx="518" cy="518"/>
            </a:xfrm>
            <a:prstGeom prst="ellipse">
              <a:avLst/>
            </a:prstGeom>
            <a:solidFill>
              <a:srgbClr val="EAF2FC"/>
            </a:solidFill>
            <a:ln w="11430">
              <a:solidFill>
                <a:srgbClr val="316EA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11535" y="2852"/>
              <a:ext cx="518" cy="446"/>
            </a:xfrm>
            <a:prstGeom prst="rect">
              <a:avLst/>
            </a:prstGeom>
            <a:noFill/>
          </p:spPr>
          <p:txBody>
            <a:bodyPr wrap="square" lIns="9144" tIns="7315" rIns="9144" bIns="7315" anchor="ctr">
              <a:spAutoFit/>
            </a:bodyPr>
            <a:lstStyle/>
            <a:p>
              <a:pPr algn="ctr">
                <a:lnSpc>
                  <a:spcPct val="114000"/>
                </a:lnSpc>
              </a:pPr>
              <a:r>
                <a:rPr sz="1300" b="1">
                  <a:solidFill>
                    <a:srgbClr val="316EAF"/>
                  </a:solidFill>
                  <a:latin typeface="微软雅黑" panose="020B0503020204020204" charset="-122"/>
                </a:rPr>
                <a:t>1</a:t>
              </a:r>
              <a:endParaRPr sz="1300" b="1">
                <a:solidFill>
                  <a:srgbClr val="316EAF"/>
                </a:solidFill>
                <a:latin typeface="微软雅黑" panose="020B0503020204020204" charset="-122"/>
              </a:endParaRPr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12269" y="2808"/>
              <a:ext cx="5328" cy="706"/>
            </a:xfrm>
            <a:prstGeom prst="rect">
              <a:avLst/>
            </a:prstGeom>
            <a:noFill/>
          </p:spPr>
          <p:txBody>
            <a:bodyPr wrap="square" lIns="9144" tIns="7315" rIns="9144" bIns="7315" anchor="ctr">
              <a:spAutoFit/>
            </a:bodyPr>
            <a:lstStyle/>
            <a:p>
              <a:pPr algn="l">
                <a:lnSpc>
                  <a:spcPct val="114000"/>
                </a:lnSpc>
              </a:pPr>
              <a:r>
                <a:rPr sz="1630" b="1">
                  <a:solidFill>
                    <a:srgbClr val="082F78"/>
                  </a:solidFill>
                  <a:latin typeface="微软雅黑" panose="020B0503020204020204" charset="-122"/>
                </a:rPr>
                <a:t>困难一｜预测可靠性存在差异</a:t>
              </a:r>
              <a:endParaRPr sz="1630" b="1">
                <a:solidFill>
                  <a:srgbClr val="082F78"/>
                </a:solidFill>
                <a:latin typeface="微软雅黑" panose="020B0503020204020204" charset="-122"/>
              </a:endParaRPr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11650" y="3598"/>
              <a:ext cx="5947" cy="1013"/>
            </a:xfrm>
            <a:prstGeom prst="rect">
              <a:avLst/>
            </a:prstGeom>
            <a:noFill/>
          </p:spPr>
          <p:txBody>
            <a:bodyPr wrap="square" lIns="9144" tIns="7315" rIns="9144" bIns="7315" anchor="ctr">
              <a:spAutoFit/>
            </a:bodyPr>
            <a:lstStyle/>
            <a:p>
              <a:pPr algn="l">
                <a:lnSpc>
                  <a:spcPct val="128000"/>
                </a:lnSpc>
              </a:pPr>
              <a:r>
                <a:rPr sz="1600" b="0">
                  <a:solidFill>
                    <a:srgbClr val="24334A"/>
                  </a:solidFill>
                  <a:latin typeface="微软雅黑" panose="020B0503020204020204" charset="-122"/>
                  <a:ea typeface="微软雅黑" panose="020B0503020204020204" charset="-122"/>
                </a:rPr>
                <a:t>跨视图预测可能不一致；即使预测一致，也可能共同偏离真实类别。</a:t>
              </a:r>
              <a:endParaRPr sz="1600" b="0">
                <a:solidFill>
                  <a:srgbClr val="24334A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60" name="Rounded Rectangle 59"/>
            <p:cNvSpPr/>
            <p:nvPr/>
          </p:nvSpPr>
          <p:spPr>
            <a:xfrm>
              <a:off x="11275" y="5371"/>
              <a:ext cx="6682" cy="2261"/>
            </a:xfrm>
            <a:prstGeom prst="roundRect">
              <a:avLst/>
            </a:prstGeom>
            <a:solidFill>
              <a:srgbClr val="FFFFFF"/>
            </a:solidFill>
            <a:ln w="13970">
              <a:solidFill>
                <a:srgbClr val="D1DAE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2" name="Oval 61"/>
            <p:cNvSpPr/>
            <p:nvPr/>
          </p:nvSpPr>
          <p:spPr>
            <a:xfrm>
              <a:off x="11534" y="5616"/>
              <a:ext cx="518" cy="518"/>
            </a:xfrm>
            <a:prstGeom prst="ellipse">
              <a:avLst/>
            </a:prstGeom>
            <a:solidFill>
              <a:srgbClr val="FDF3E8"/>
            </a:solidFill>
            <a:ln w="11430">
              <a:solidFill>
                <a:srgbClr val="DD8949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11534" y="5630"/>
              <a:ext cx="518" cy="446"/>
            </a:xfrm>
            <a:prstGeom prst="rect">
              <a:avLst/>
            </a:prstGeom>
            <a:noFill/>
          </p:spPr>
          <p:txBody>
            <a:bodyPr wrap="square" lIns="9144" tIns="7315" rIns="9144" bIns="7315" anchor="ctr">
              <a:spAutoFit/>
            </a:bodyPr>
            <a:lstStyle/>
            <a:p>
              <a:pPr algn="ctr">
                <a:lnSpc>
                  <a:spcPct val="114000"/>
                </a:lnSpc>
              </a:pPr>
              <a:r>
                <a:rPr sz="1300" b="1">
                  <a:solidFill>
                    <a:srgbClr val="DD8949"/>
                  </a:solidFill>
                  <a:latin typeface="微软雅黑" panose="020B0503020204020204" charset="-122"/>
                </a:rPr>
                <a:t>2</a:t>
              </a:r>
              <a:endParaRPr sz="1300" b="1">
                <a:solidFill>
                  <a:srgbClr val="DD8949"/>
                </a:solidFill>
                <a:latin typeface="微软雅黑" panose="020B0503020204020204" charset="-122"/>
              </a:endParaRPr>
            </a:p>
          </p:txBody>
        </p:sp>
        <p:sp>
          <p:nvSpPr>
            <p:cNvPr id="64" name="TextBox 63"/>
            <p:cNvSpPr txBox="1"/>
            <p:nvPr/>
          </p:nvSpPr>
          <p:spPr>
            <a:xfrm>
              <a:off x="12269" y="5558"/>
              <a:ext cx="5328" cy="706"/>
            </a:xfrm>
            <a:prstGeom prst="rect">
              <a:avLst/>
            </a:prstGeom>
            <a:noFill/>
          </p:spPr>
          <p:txBody>
            <a:bodyPr wrap="square" lIns="9144" tIns="7315" rIns="9144" bIns="7315" anchor="ctr">
              <a:spAutoFit/>
            </a:bodyPr>
            <a:lstStyle/>
            <a:p>
              <a:pPr algn="l">
                <a:lnSpc>
                  <a:spcPct val="114000"/>
                </a:lnSpc>
              </a:pPr>
              <a:r>
                <a:rPr sz="1630" b="1">
                  <a:solidFill>
                    <a:srgbClr val="082F78"/>
                  </a:solidFill>
                  <a:latin typeface="微软雅黑" panose="020B0503020204020204" charset="-122"/>
                </a:rPr>
                <a:t>困难二｜语义关系可能产生偏差</a:t>
              </a:r>
              <a:endParaRPr sz="1630" b="1">
                <a:solidFill>
                  <a:srgbClr val="082F78"/>
                </a:solidFill>
                <a:latin typeface="微软雅黑" panose="020B0503020204020204" charset="-122"/>
              </a:endParaRPr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11650" y="6134"/>
              <a:ext cx="5947" cy="1509"/>
            </a:xfrm>
            <a:prstGeom prst="rect">
              <a:avLst/>
            </a:prstGeom>
            <a:noFill/>
          </p:spPr>
          <p:txBody>
            <a:bodyPr wrap="square" lIns="9144" tIns="7315" rIns="9144" bIns="7315" anchor="ctr">
              <a:spAutoFit/>
            </a:bodyPr>
            <a:lstStyle/>
            <a:p>
              <a:pPr algn="l">
                <a:lnSpc>
                  <a:spcPct val="128000"/>
                </a:lnSpc>
              </a:pPr>
              <a:r>
                <a:rPr sz="1600" b="0">
                  <a:solidFill>
                    <a:srgbClr val="24334A"/>
                  </a:solidFill>
                  <a:latin typeface="微软雅黑" panose="020B0503020204020204" charset="-122"/>
                  <a:ea typeface="微软雅黑" panose="020B0503020204020204" charset="-122"/>
                </a:rPr>
                <a:t>真实标签数量有限；基于受噪声影响的聚类后验扩展语义关系时，可能引入错误监督</a:t>
              </a:r>
              <a:r>
                <a:rPr sz="1420" b="0">
                  <a:solidFill>
                    <a:srgbClr val="24334A"/>
                  </a:solidFill>
                  <a:latin typeface="微软雅黑" panose="020B0503020204020204" charset="-122"/>
                  <a:ea typeface="微软雅黑" panose="020B0503020204020204" charset="-122"/>
                </a:rPr>
                <a:t>。</a:t>
              </a:r>
              <a:endParaRPr sz="1420" b="0">
                <a:solidFill>
                  <a:srgbClr val="24334A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</p:grpSp>
      <p:pic>
        <p:nvPicPr>
          <p:cNvPr id="75" name="图片 7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874519"/>
            <a:ext cx="4709160" cy="352958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88952" cy="347472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749808" y="59436"/>
            <a:ext cx="2194560" cy="22860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0717D"/>
                </a:solidFill>
                <a:latin typeface="Microsoft YaHei" panose="020B0503020204020204" charset="-122"/>
                <a:ea typeface="微软雅黑" panose="020B0503020204020204" charset="-122"/>
              </a:rPr>
              <a:t>研究背景及意义</a:t>
            </a:r>
            <a:endParaRPr sz="1280" b="0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320040" y="1636776"/>
            <a:ext cx="1490472" cy="0"/>
          </a:xfrm>
          <a:prstGeom prst="line">
            <a:avLst/>
          </a:prstGeom>
          <a:ln w="8255">
            <a:noFill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3401568" y="310896"/>
            <a:ext cx="2057400" cy="32004"/>
          </a:xfrm>
          <a:prstGeom prst="rect">
            <a:avLst/>
          </a:prstGeom>
          <a:solidFill>
            <a:srgbClr val="5F8C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3236976" y="59436"/>
            <a:ext cx="2194560" cy="22860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83B55"/>
                </a:solidFill>
                <a:latin typeface="Microsoft YaHei" panose="020B0503020204020204" charset="-122"/>
                <a:ea typeface="微软雅黑" panose="020B0503020204020204" charset="-122"/>
              </a:rPr>
              <a:t>研究问题与思路</a:t>
            </a:r>
            <a:endParaRPr sz="1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724144" y="59436"/>
            <a:ext cx="2194560" cy="22860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0717D"/>
                </a:solidFill>
                <a:latin typeface="Microsoft YaHei" panose="020B0503020204020204" charset="-122"/>
                <a:ea typeface="微软雅黑" panose="020B0503020204020204" charset="-122"/>
              </a:rPr>
              <a:t>研究方法与技术路线</a:t>
            </a:r>
            <a:endParaRPr sz="1280" b="0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10" name="Connector 9"/>
          <p:cNvCxnSpPr/>
          <p:nvPr/>
        </p:nvCxnSpPr>
        <p:spPr>
          <a:xfrm>
            <a:off x="320040" y="3081528"/>
            <a:ext cx="1490472" cy="0"/>
          </a:xfrm>
          <a:prstGeom prst="line">
            <a:avLst/>
          </a:prstGeom>
          <a:ln w="8255">
            <a:noFill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211312" y="59436"/>
            <a:ext cx="2194560" cy="22860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0717D"/>
                </a:solidFill>
                <a:latin typeface="Microsoft YaHei" panose="020B0503020204020204" charset="-122"/>
                <a:ea typeface="微软雅黑" panose="020B0503020204020204" charset="-122"/>
              </a:rPr>
              <a:t>实验设计与计划</a:t>
            </a:r>
            <a:endParaRPr sz="1280" b="0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12" name="Picture 11" descr="logo_src_1_2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0" y="5961888"/>
            <a:ext cx="594360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13232" y="475488"/>
            <a:ext cx="10789920" cy="475488"/>
          </a:xfrm>
          <a:prstGeom prst="rect">
            <a:avLst/>
          </a:prstGeom>
          <a:noFill/>
        </p:spPr>
        <p:txBody>
          <a:bodyPr wrap="none" lIns="9144" tIns="9144" r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sz="2200" b="1">
                <a:solidFill>
                  <a:srgbClr val="183B55"/>
                </a:solidFill>
                <a:latin typeface="Microsoft YaHei" panose="020B0503020204020204" charset="-122"/>
                <a:ea typeface="微软雅黑" panose="020B0503020204020204" charset="-122"/>
              </a:rPr>
              <a:t>2.2 核心研究思路与主要内容</a:t>
            </a:r>
            <a:endParaRPr sz="2100" b="1">
              <a:solidFill>
                <a:srgbClr val="082F7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713232" y="941832"/>
            <a:ext cx="10698480" cy="24688"/>
          </a:xfrm>
          <a:prstGeom prst="rect">
            <a:avLst/>
          </a:prstGeom>
          <a:solidFill>
            <a:srgbClr val="5F8C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grpSp>
        <p:nvGrpSpPr>
          <p:cNvPr id="44" name="组合 43"/>
          <p:cNvGrpSpPr/>
          <p:nvPr>
            <p:custDataLst>
              <p:tags r:id="rId2"/>
            </p:custDataLst>
          </p:nvPr>
        </p:nvGrpSpPr>
        <p:grpSpPr>
          <a:xfrm>
            <a:off x="6776497" y="1343660"/>
            <a:ext cx="4020185" cy="1780540"/>
            <a:chOff x="8216" y="3556"/>
            <a:chExt cx="6331" cy="2804"/>
          </a:xfrm>
        </p:grpSpPr>
        <p:sp>
          <p:nvSpPr>
            <p:cNvPr id="38" name="文本框 37"/>
            <p:cNvSpPr txBox="1"/>
            <p:nvPr>
              <p:custDataLst>
                <p:tags r:id="rId3"/>
              </p:custDataLst>
            </p:nvPr>
          </p:nvSpPr>
          <p:spPr>
            <a:xfrm>
              <a:off x="8216" y="3556"/>
              <a:ext cx="6331" cy="623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pPr algn="l">
                <a:lnSpc>
                  <a:spcPct val="110000"/>
                </a:lnSpc>
                <a:spcBef>
                  <a:spcPts val="0"/>
                </a:spcBef>
                <a:spcAft>
                  <a:spcPts val="100"/>
                </a:spcAft>
              </a:pPr>
              <a:r>
                <a:rPr lang="zh-CN" b="1">
                  <a:solidFill>
                    <a:srgbClr val="0B3574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以多视图聚类后验为共同学习基础</a:t>
              </a:r>
              <a:endParaRPr lang="zh-CN" altLang="en-US" b="1">
                <a:solidFill>
                  <a:srgbClr val="0B3574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</p:txBody>
        </p:sp>
        <p:sp>
          <p:nvSpPr>
            <p:cNvPr id="39" name="文本框 38"/>
            <p:cNvSpPr txBox="1"/>
            <p:nvPr>
              <p:custDataLst>
                <p:tags r:id="rId4"/>
              </p:custDataLst>
            </p:nvPr>
          </p:nvSpPr>
          <p:spPr>
            <a:xfrm>
              <a:off x="8266" y="4387"/>
              <a:ext cx="5982" cy="1973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pPr algn="l">
                <a:lnSpc>
                  <a:spcPct val="118000"/>
                </a:lnSpc>
                <a:spcBef>
                  <a:spcPts val="0"/>
                </a:spcBef>
                <a:spcAft>
                  <a:spcPts val="100"/>
                </a:spcAft>
              </a:pPr>
              <a:r>
                <a:rPr lang="zh-CN" sz="1600">
                  <a:solidFill>
                    <a:srgbClr val="262D37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引入优化引导的特征映射与共享聚类网络，结合使用跨视图对比学习和分布正则化，得到具有一定判别能力的聚类后验。</a:t>
              </a:r>
              <a:endParaRPr lang="zh-CN" altLang="en-US" sz="1600">
                <a:solidFill>
                  <a:srgbClr val="262D37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</p:txBody>
        </p:sp>
      </p:grpSp>
      <p:grpSp>
        <p:nvGrpSpPr>
          <p:cNvPr id="46" name="组合 45"/>
          <p:cNvGrpSpPr/>
          <p:nvPr>
            <p:custDataLst>
              <p:tags r:id="rId5"/>
            </p:custDataLst>
          </p:nvPr>
        </p:nvGrpSpPr>
        <p:grpSpPr>
          <a:xfrm>
            <a:off x="961516" y="2392045"/>
            <a:ext cx="3572510" cy="2327910"/>
            <a:chOff x="3900" y="6743"/>
            <a:chExt cx="5626" cy="3666"/>
          </a:xfrm>
        </p:grpSpPr>
        <p:sp>
          <p:nvSpPr>
            <p:cNvPr id="40" name="文本框 39"/>
            <p:cNvSpPr txBox="1"/>
            <p:nvPr>
              <p:custDataLst>
                <p:tags r:id="rId6"/>
              </p:custDataLst>
            </p:nvPr>
          </p:nvSpPr>
          <p:spPr>
            <a:xfrm>
              <a:off x="3900" y="6743"/>
              <a:ext cx="5439" cy="1103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pPr algn="l">
                <a:lnSpc>
                  <a:spcPct val="110000"/>
                </a:lnSpc>
                <a:spcBef>
                  <a:spcPts val="0"/>
                </a:spcBef>
                <a:spcAft>
                  <a:spcPts val="100"/>
                </a:spcAft>
              </a:pPr>
              <a:r>
                <a:rPr lang="zh-CN" b="1">
                  <a:solidFill>
                    <a:srgbClr val="0B3574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跨视图可靠性与稀疏类别语义共同建模</a:t>
              </a:r>
              <a:endParaRPr lang="zh-CN" altLang="en-US" b="1">
                <a:solidFill>
                  <a:srgbClr val="0B3574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</p:txBody>
        </p:sp>
        <p:sp>
          <p:nvSpPr>
            <p:cNvPr id="41" name="文本框 40"/>
            <p:cNvSpPr txBox="1"/>
            <p:nvPr>
              <p:custDataLst>
                <p:tags r:id="rId7"/>
              </p:custDataLst>
            </p:nvPr>
          </p:nvSpPr>
          <p:spPr>
            <a:xfrm>
              <a:off x="3900" y="7978"/>
              <a:ext cx="5626" cy="2431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pPr algn="l">
                <a:lnSpc>
                  <a:spcPct val="118000"/>
                </a:lnSpc>
                <a:spcBef>
                  <a:spcPts val="0"/>
                </a:spcBef>
                <a:spcAft>
                  <a:spcPts val="100"/>
                </a:spcAft>
              </a:pPr>
              <a:r>
                <a:rPr lang="zh-CN" sz="1600">
                  <a:solidFill>
                    <a:srgbClr val="262D37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基于初始聚类后验，引入互补视图预测验证估计样本</a:t>
              </a:r>
              <a:r>
                <a:rPr lang="en-US" altLang="zh-CN" sz="1600">
                  <a:solidFill>
                    <a:srgbClr val="262D37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-</a:t>
              </a:r>
              <a:r>
                <a:rPr lang="zh-CN" altLang="en-US" sz="1600">
                  <a:solidFill>
                    <a:srgbClr val="262D37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动作级信息效用，同时结合少量真实标签在动作条件下构建连续语义关系，分别提供预测支持依据与类别语义方向。</a:t>
              </a:r>
              <a:endParaRPr lang="zh-CN" altLang="en-US" sz="1600">
                <a:solidFill>
                  <a:srgbClr val="262D37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</p:txBody>
        </p:sp>
      </p:grpSp>
      <p:grpSp>
        <p:nvGrpSpPr>
          <p:cNvPr id="47" name="组合 46"/>
          <p:cNvGrpSpPr/>
          <p:nvPr>
            <p:custDataLst>
              <p:tags r:id="rId8"/>
            </p:custDataLst>
          </p:nvPr>
        </p:nvGrpSpPr>
        <p:grpSpPr>
          <a:xfrm>
            <a:off x="6903561" y="3520440"/>
            <a:ext cx="3703320" cy="1832610"/>
            <a:chOff x="12448" y="6848"/>
            <a:chExt cx="5832" cy="2886"/>
          </a:xfrm>
        </p:grpSpPr>
        <p:sp>
          <p:nvSpPr>
            <p:cNvPr id="42" name="TextBox 32"/>
            <p:cNvSpPr txBox="1"/>
            <p:nvPr>
              <p:custDataLst>
                <p:tags r:id="rId9"/>
              </p:custDataLst>
            </p:nvPr>
          </p:nvSpPr>
          <p:spPr>
            <a:xfrm>
              <a:off x="12448" y="6848"/>
              <a:ext cx="5832" cy="479"/>
            </a:xfrm>
            <a:prstGeom prst="rect">
              <a:avLst/>
            </a:prstGeom>
            <a:noFill/>
          </p:spPr>
          <p:txBody>
            <a:bodyPr wrap="square" lIns="9144" tIns="0" rIns="9144" bIns="0" anchor="ctr">
              <a:spAutoFit/>
            </a:bodyPr>
            <a:p>
              <a:pPr algn="l">
                <a:lnSpc>
                  <a:spcPct val="110000"/>
                </a:lnSpc>
                <a:spcBef>
                  <a:spcPts val="0"/>
                </a:spcBef>
                <a:spcAft>
                  <a:spcPts val="100"/>
                </a:spcAft>
              </a:pPr>
              <a:r>
                <a:rPr lang="zh-CN" b="1">
                  <a:solidFill>
                    <a:srgbClr val="0B3574"/>
                  </a:solidFill>
                  <a:latin typeface="微软雅黑" panose="020B0503020204020204" charset="-122"/>
                  <a:ea typeface="微软雅黑" panose="020B0503020204020204" charset="-122"/>
                </a:rPr>
                <a:t>结构与语义协同优化</a:t>
              </a:r>
              <a:endParaRPr lang="zh-CN" b="1">
                <a:solidFill>
                  <a:srgbClr val="0B3574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43" name="文本框 42"/>
            <p:cNvSpPr txBox="1"/>
            <p:nvPr>
              <p:custDataLst>
                <p:tags r:id="rId10"/>
              </p:custDataLst>
            </p:nvPr>
          </p:nvSpPr>
          <p:spPr>
            <a:xfrm>
              <a:off x="12448" y="7761"/>
              <a:ext cx="5571" cy="1973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pPr algn="l">
                <a:lnSpc>
                  <a:spcPct val="118000"/>
                </a:lnSpc>
                <a:spcBef>
                  <a:spcPts val="0"/>
                </a:spcBef>
                <a:spcAft>
                  <a:spcPts val="100"/>
                </a:spcAft>
              </a:pPr>
              <a:r>
                <a:rPr lang="zh-CN" sz="1600">
                  <a:solidFill>
                    <a:srgbClr val="262D37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软</a:t>
              </a:r>
              <a:r>
                <a:rPr sz="1600">
                  <a:solidFill>
                    <a:srgbClr val="262D37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语义</a:t>
              </a:r>
              <a:r>
                <a:rPr lang="zh-CN" sz="1600">
                  <a:solidFill>
                    <a:srgbClr val="262D37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目标</a:t>
              </a:r>
              <a:r>
                <a:rPr sz="1600">
                  <a:solidFill>
                    <a:srgbClr val="262D37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确定关系学习方向，可靠性调节不同关系的监督贡献。</a:t>
              </a:r>
              <a:r>
                <a:rPr lang="zh-CN" sz="1600">
                  <a:solidFill>
                    <a:srgbClr val="262D37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之后</a:t>
              </a:r>
              <a:r>
                <a:rPr lang="zh-CN" altLang="en-US" sz="1600">
                  <a:solidFill>
                    <a:srgbClr val="262D37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与跨视图结构学习顺序协同优化共享网络参数，改善聚类后验。</a:t>
              </a:r>
              <a:endParaRPr lang="zh-CN" altLang="en-US" sz="1600">
                <a:solidFill>
                  <a:srgbClr val="262D37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</p:txBody>
        </p:sp>
      </p:grpSp>
      <p:grpSp>
        <p:nvGrpSpPr>
          <p:cNvPr id="48" name="组合 47"/>
          <p:cNvGrpSpPr/>
          <p:nvPr/>
        </p:nvGrpSpPr>
        <p:grpSpPr>
          <a:xfrm>
            <a:off x="5324030" y="2131060"/>
            <a:ext cx="1080770" cy="2961005"/>
            <a:chOff x="10480" y="4054"/>
            <a:chExt cx="1492" cy="4155"/>
          </a:xfrm>
        </p:grpSpPr>
        <p:sp>
          <p:nvSpPr>
            <p:cNvPr id="49" name="New shape"/>
            <p:cNvSpPr/>
            <p:nvPr>
              <p:custDataLst>
                <p:tags r:id="rId11"/>
              </p:custDataLst>
            </p:nvPr>
          </p:nvSpPr>
          <p:spPr>
            <a:xfrm>
              <a:off x="11189" y="4638"/>
              <a:ext cx="62" cy="731"/>
            </a:xfrm>
            <a:prstGeom prst="rect">
              <a:avLst/>
            </a:prstGeom>
          </p:spPr>
          <p:style>
            <a:lnRef idx="0">
              <a:srgbClr val="FFFFFF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50" name="New shape"/>
            <p:cNvSpPr/>
            <p:nvPr>
              <p:custDataLst>
                <p:tags r:id="rId12"/>
              </p:custDataLst>
            </p:nvPr>
          </p:nvSpPr>
          <p:spPr>
            <a:xfrm>
              <a:off x="11484" y="4338"/>
              <a:ext cx="488" cy="62"/>
            </a:xfrm>
            <a:prstGeom prst="rect">
              <a:avLst/>
            </a:prstGeom>
          </p:spPr>
          <p:style>
            <a:lnRef idx="0">
              <a:srgbClr val="FFFFFF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51" name="New shape"/>
            <p:cNvSpPr/>
            <p:nvPr>
              <p:custDataLst>
                <p:tags r:id="rId13"/>
              </p:custDataLst>
            </p:nvPr>
          </p:nvSpPr>
          <p:spPr>
            <a:xfrm>
              <a:off x="10940" y="4054"/>
              <a:ext cx="567" cy="584"/>
            </a:xfrm>
            <a:prstGeom prst="roundRect">
              <a:avLst>
                <a:gd name="adj" fmla="val 8819"/>
              </a:avLst>
            </a:prstGeom>
          </p:spPr>
          <p:style>
            <a:lnRef idx="0">
              <a:srgbClr val="FFFFFF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>
                  <a:solidFill>
                    <a:srgbClr val="FFFFFF"/>
                  </a:solidFill>
                </a:rPr>
                <a:t>1</a:t>
              </a:r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52" name="New shape"/>
            <p:cNvSpPr/>
            <p:nvPr>
              <p:custDataLst>
                <p:tags r:id="rId14"/>
              </p:custDataLst>
            </p:nvPr>
          </p:nvSpPr>
          <p:spPr>
            <a:xfrm>
              <a:off x="11189" y="5953"/>
              <a:ext cx="62" cy="952"/>
            </a:xfrm>
            <a:prstGeom prst="rect">
              <a:avLst/>
            </a:prstGeom>
          </p:spPr>
          <p:style>
            <a:lnRef idx="0">
              <a:srgbClr val="FFFFFF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53" name="New shape"/>
            <p:cNvSpPr/>
            <p:nvPr>
              <p:custDataLst>
                <p:tags r:id="rId15"/>
              </p:custDataLst>
            </p:nvPr>
          </p:nvSpPr>
          <p:spPr>
            <a:xfrm>
              <a:off x="10480" y="5654"/>
              <a:ext cx="488" cy="62"/>
            </a:xfrm>
            <a:prstGeom prst="rect">
              <a:avLst/>
            </a:prstGeom>
          </p:spPr>
          <p:style>
            <a:lnRef idx="0">
              <a:srgbClr val="FFFFFF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54" name="New shape"/>
            <p:cNvSpPr/>
            <p:nvPr>
              <p:custDataLst>
                <p:tags r:id="rId16"/>
              </p:custDataLst>
            </p:nvPr>
          </p:nvSpPr>
          <p:spPr>
            <a:xfrm>
              <a:off x="10940" y="5369"/>
              <a:ext cx="567" cy="584"/>
            </a:xfrm>
            <a:prstGeom prst="roundRect">
              <a:avLst>
                <a:gd name="adj" fmla="val 8819"/>
              </a:avLst>
            </a:prstGeom>
          </p:spPr>
          <p:style>
            <a:lnRef idx="0">
              <a:srgbClr val="FFFFFF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>
                  <a:solidFill>
                    <a:srgbClr val="FFFFFF"/>
                  </a:solidFill>
                </a:rPr>
                <a:t>2</a:t>
              </a:r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55" name="New shape"/>
            <p:cNvSpPr/>
            <p:nvPr>
              <p:custDataLst>
                <p:tags r:id="rId17"/>
              </p:custDataLst>
            </p:nvPr>
          </p:nvSpPr>
          <p:spPr>
            <a:xfrm>
              <a:off x="11189" y="7489"/>
              <a:ext cx="62" cy="720"/>
            </a:xfrm>
            <a:prstGeom prst="rect">
              <a:avLst/>
            </a:prstGeom>
          </p:spPr>
          <p:style>
            <a:lnRef idx="0">
              <a:srgbClr val="FFFFFF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56" name="New shape"/>
            <p:cNvSpPr/>
            <p:nvPr>
              <p:custDataLst>
                <p:tags r:id="rId18"/>
              </p:custDataLst>
            </p:nvPr>
          </p:nvSpPr>
          <p:spPr>
            <a:xfrm>
              <a:off x="11484" y="7190"/>
              <a:ext cx="488" cy="62"/>
            </a:xfrm>
            <a:prstGeom prst="rect">
              <a:avLst/>
            </a:prstGeom>
          </p:spPr>
          <p:style>
            <a:lnRef idx="0">
              <a:srgbClr val="FFFFFF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57" name="New shape"/>
            <p:cNvSpPr/>
            <p:nvPr>
              <p:custDataLst>
                <p:tags r:id="rId19"/>
              </p:custDataLst>
            </p:nvPr>
          </p:nvSpPr>
          <p:spPr>
            <a:xfrm>
              <a:off x="10940" y="6905"/>
              <a:ext cx="567" cy="584"/>
            </a:xfrm>
            <a:prstGeom prst="roundRect">
              <a:avLst>
                <a:gd name="adj" fmla="val 8819"/>
              </a:avLst>
            </a:prstGeom>
          </p:spPr>
          <p:style>
            <a:lnRef idx="0">
              <a:srgbClr val="FFFFFF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>
                  <a:solidFill>
                    <a:srgbClr val="FFFFFF"/>
                  </a:solidFill>
                </a:rPr>
                <a:t>3</a:t>
              </a:r>
              <a:endParaRPr lang="en-US">
                <a:solidFill>
                  <a:srgbClr val="FFFFFF"/>
                </a:solidFill>
              </a:endParaRPr>
            </a:p>
          </p:txBody>
        </p:sp>
      </p:grpSp>
      <p:sp>
        <p:nvSpPr>
          <p:cNvPr id="58" name="TextBox 14"/>
          <p:cNvSpPr txBox="1"/>
          <p:nvPr/>
        </p:nvSpPr>
        <p:spPr>
          <a:xfrm>
            <a:off x="11311128" y="6584506"/>
            <a:ext cx="502920" cy="172085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0717D"/>
                </a:solidFill>
                <a:latin typeface="Microsoft YaHei" panose="020B0503020204020204" charset="-122"/>
                <a:ea typeface="微软雅黑" panose="020B0503020204020204" charset="-122"/>
              </a:rPr>
              <a:t>0</a:t>
            </a:r>
            <a:r>
              <a:rPr lang="en-US" sz="900" b="0">
                <a:solidFill>
                  <a:srgbClr val="60717D"/>
                </a:solidFill>
                <a:latin typeface="Microsoft YaHei" panose="020B0503020204020204" charset="-122"/>
                <a:ea typeface="微软雅黑" panose="020B0503020204020204" charset="-122"/>
              </a:rPr>
              <a:t>8</a:t>
            </a:r>
            <a:endParaRPr lang="en-US" sz="900" b="0">
              <a:solidFill>
                <a:srgbClr val="65758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8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1051560" y="1517904"/>
            <a:ext cx="2194560" cy="86868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5F8C96"/>
                </a:solidFill>
                <a:latin typeface="Microsoft YaHei" panose="020B0503020204020204" charset="-122"/>
                <a:ea typeface="微软雅黑" panose="020B0503020204020204" charset="-122"/>
              </a:rPr>
              <a:t>03</a:t>
            </a:r>
            <a:endParaRPr sz="4800" b="1">
              <a:solidFill>
                <a:srgbClr val="D9B97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97280" y="2523744"/>
            <a:ext cx="3200400" cy="292608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F8C96"/>
                </a:solidFill>
                <a:latin typeface="Microsoft YaHei" panose="020B0503020204020204" charset="-122"/>
                <a:ea typeface="微软雅黑" panose="020B0503020204020204" charset="-122"/>
              </a:rPr>
              <a:t>PART THREE</a:t>
            </a:r>
            <a:endParaRPr sz="1300" b="1">
              <a:solidFill>
                <a:srgbClr val="D9B97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1097280" y="3035808"/>
            <a:ext cx="1188720" cy="0"/>
          </a:xfrm>
          <a:prstGeom prst="line">
            <a:avLst/>
          </a:prstGeom>
          <a:ln w="12700">
            <a:solidFill>
              <a:srgbClr val="5F8C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78992" y="3291840"/>
            <a:ext cx="9784080" cy="91440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183B55"/>
                </a:solidFill>
                <a:latin typeface="Microsoft YaHei" panose="020B0503020204020204" charset="-122"/>
                <a:ea typeface="微软雅黑" panose="020B0503020204020204" charset="-122"/>
              </a:rPr>
              <a:t>研究方法与技术路线</a:t>
            </a:r>
            <a:endParaRPr sz="33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347472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749808" y="59436"/>
            <a:ext cx="2194560" cy="22860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0717D"/>
                </a:solidFill>
                <a:latin typeface="Microsoft YaHei" panose="020B0503020204020204" charset="-122"/>
                <a:ea typeface="微软雅黑" panose="020B0503020204020204" charset="-122"/>
              </a:rPr>
              <a:t>研究背景及意义</a:t>
            </a:r>
            <a:endParaRPr sz="1280" b="0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320040" y="1636776"/>
            <a:ext cx="1490472" cy="0"/>
          </a:xfrm>
          <a:prstGeom prst="line">
            <a:avLst/>
          </a:prstGeom>
          <a:ln w="8255">
            <a:noFill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236976" y="59436"/>
            <a:ext cx="2194560" cy="22860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0717D"/>
                </a:solidFill>
                <a:latin typeface="Microsoft YaHei" panose="020B0503020204020204" charset="-122"/>
                <a:ea typeface="微软雅黑" panose="020B0503020204020204" charset="-122"/>
              </a:rPr>
              <a:t>研究问题与思路</a:t>
            </a:r>
            <a:endParaRPr sz="1280" b="0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320040" y="2359152"/>
            <a:ext cx="1490472" cy="0"/>
          </a:xfrm>
          <a:prstGeom prst="line">
            <a:avLst/>
          </a:prstGeom>
          <a:ln w="8255">
            <a:noFill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5888736" y="310896"/>
            <a:ext cx="2057400" cy="32004"/>
          </a:xfrm>
          <a:prstGeom prst="rect">
            <a:avLst/>
          </a:prstGeom>
          <a:solidFill>
            <a:srgbClr val="5F8C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5724144" y="59436"/>
            <a:ext cx="2194560" cy="22860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83B55"/>
                </a:solidFill>
                <a:latin typeface="Microsoft YaHei" panose="020B0503020204020204" charset="-122"/>
                <a:ea typeface="微软雅黑" panose="020B0503020204020204" charset="-122"/>
              </a:rPr>
              <a:t>研究方法与技术路线</a:t>
            </a:r>
            <a:endParaRPr sz="1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211312" y="59436"/>
            <a:ext cx="2194560" cy="22860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0717D"/>
                </a:solidFill>
                <a:latin typeface="Microsoft YaHei" panose="020B0503020204020204" charset="-122"/>
                <a:ea typeface="微软雅黑" panose="020B0503020204020204" charset="-122"/>
              </a:rPr>
              <a:t>实验设计与计划</a:t>
            </a:r>
            <a:endParaRPr sz="1280" b="0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12" name="Picture 11" descr="logo_src_1_2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0" y="5961888"/>
            <a:ext cx="594360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13232" y="475488"/>
            <a:ext cx="10789920" cy="475488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sz="2200" b="1">
                <a:solidFill>
                  <a:srgbClr val="183B55"/>
                </a:solidFill>
                <a:latin typeface="Microsoft YaHei" panose="020B0503020204020204" charset="-122"/>
                <a:ea typeface="微软雅黑" panose="020B0503020204020204" charset="-122"/>
              </a:rPr>
              <a:t>3.1 信息效用引导的整体学习框架</a:t>
            </a:r>
            <a:endParaRPr sz="2100" b="1">
              <a:solidFill>
                <a:srgbClr val="082F7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713232" y="941832"/>
            <a:ext cx="10698480" cy="24688"/>
          </a:xfrm>
          <a:prstGeom prst="rect">
            <a:avLst/>
          </a:prstGeom>
          <a:solidFill>
            <a:srgbClr val="5F8C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11311128" y="6584506"/>
            <a:ext cx="502920" cy="172085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0717D"/>
                </a:solidFill>
                <a:latin typeface="Microsoft YaHei" panose="020B0503020204020204" charset="-122"/>
                <a:ea typeface="微软雅黑" panose="020B0503020204020204" charset="-122"/>
              </a:rPr>
              <a:t>1</a:t>
            </a:r>
            <a:r>
              <a:rPr lang="en-US" sz="900" b="0">
                <a:solidFill>
                  <a:srgbClr val="60717D"/>
                </a:solidFill>
                <a:latin typeface="Microsoft YaHei" panose="020B0503020204020204" charset="-122"/>
                <a:ea typeface="微软雅黑" panose="020B0503020204020204" charset="-122"/>
              </a:rPr>
              <a:t>0</a:t>
            </a:r>
            <a:endParaRPr lang="en-US" sz="900" b="0">
              <a:solidFill>
                <a:srgbClr val="65758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19" name="图片 18" descr="框架图2"/>
          <p:cNvPicPr>
            <a:picLocks noChangeAspect="1"/>
          </p:cNvPicPr>
          <p:nvPr/>
        </p:nvPicPr>
        <p:blipFill>
          <a:blip r:embed="rId2"/>
          <a:srcRect b="8784"/>
          <a:stretch>
            <a:fillRect/>
          </a:stretch>
        </p:blipFill>
        <p:spPr>
          <a:xfrm>
            <a:off x="693515" y="1314450"/>
            <a:ext cx="9443720" cy="4450715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5720" y="3434715"/>
            <a:ext cx="1242695" cy="203200"/>
          </a:xfrm>
          <a:prstGeom prst="rect">
            <a:avLst/>
          </a:prstGeom>
        </p:spPr>
      </p:pic>
      <p:sp>
        <p:nvSpPr>
          <p:cNvPr id="16" name="文本框 15"/>
          <p:cNvSpPr txBox="1"/>
          <p:nvPr/>
        </p:nvSpPr>
        <p:spPr>
          <a:xfrm>
            <a:off x="1461738" y="5939155"/>
            <a:ext cx="9039034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>
              <a:spcBef>
                <a:spcPts val="0"/>
              </a:spcBef>
              <a:spcAft>
                <a:spcPts val="0"/>
              </a:spcAft>
            </a:pPr>
            <a:r>
              <a:rPr lang="zh-CN" altLang="en-US" sz="1600">
                <a:solidFill/>
                <a:latin typeface="Microsoft YaHei" panose="020B0503020204020204" charset="-122"/>
                <a:ea typeface="微软雅黑" panose="020B0503020204020204" charset="-122"/>
              </a:rPr>
              <a:t>以多视图聚类后验为共同基础，构建跨视图信息效用与稀疏标签软语义目标，通过效用加权的关系监督与结构学习协同优化，改善聚类结果。</a:t>
            </a:r>
            <a:endParaRPr lang="zh-CN" altLang="en-US" sz="1600"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88952" cy="347472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749808" y="59436"/>
            <a:ext cx="2194560" cy="22860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0717D"/>
                </a:solidFill>
                <a:latin typeface="Microsoft YaHei" panose="020B0503020204020204" charset="-122"/>
                <a:ea typeface="微软雅黑" panose="020B0503020204020204" charset="-122"/>
              </a:rPr>
              <a:t>研究背景及意义</a:t>
            </a:r>
            <a:endParaRPr sz="1280" b="0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320040" y="1636776"/>
            <a:ext cx="1490472" cy="0"/>
          </a:xfrm>
          <a:prstGeom prst="line">
            <a:avLst/>
          </a:prstGeom>
          <a:ln w="8255">
            <a:noFill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236976" y="59436"/>
            <a:ext cx="2194560" cy="22860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0717D"/>
                </a:solidFill>
                <a:latin typeface="Microsoft YaHei" panose="020B0503020204020204" charset="-122"/>
                <a:ea typeface="微软雅黑" panose="020B0503020204020204" charset="-122"/>
              </a:rPr>
              <a:t>研究问题与思路</a:t>
            </a:r>
            <a:endParaRPr sz="1280" b="0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320040" y="2359152"/>
            <a:ext cx="1490472" cy="0"/>
          </a:xfrm>
          <a:prstGeom prst="line">
            <a:avLst/>
          </a:prstGeom>
          <a:ln w="8255">
            <a:noFill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5888736" y="310896"/>
            <a:ext cx="2057400" cy="32004"/>
          </a:xfrm>
          <a:prstGeom prst="rect">
            <a:avLst/>
          </a:prstGeom>
          <a:solidFill>
            <a:srgbClr val="5F8C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5724144" y="59436"/>
            <a:ext cx="2194560" cy="22860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83B55"/>
                </a:solidFill>
                <a:latin typeface="Microsoft YaHei" panose="020B0503020204020204" charset="-122"/>
                <a:ea typeface="微软雅黑" panose="020B0503020204020204" charset="-122"/>
              </a:rPr>
              <a:t>研究方法与技术路线</a:t>
            </a:r>
            <a:endParaRPr sz="1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211312" y="59436"/>
            <a:ext cx="2194560" cy="22860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0717D"/>
                </a:solidFill>
                <a:latin typeface="Microsoft YaHei" panose="020B0503020204020204" charset="-122"/>
                <a:ea typeface="微软雅黑" panose="020B0503020204020204" charset="-122"/>
              </a:rPr>
              <a:t>实验设计与计划</a:t>
            </a:r>
            <a:endParaRPr sz="1280" b="0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12" name="Picture 11" descr="logo_src_1_2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0" y="5961888"/>
            <a:ext cx="594360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13232" y="475488"/>
            <a:ext cx="10789920" cy="475488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sz="2200" b="1">
                <a:solidFill>
                  <a:srgbClr val="183B55"/>
                </a:solidFill>
                <a:latin typeface="Microsoft YaHei" panose="020B0503020204020204" charset="-122"/>
                <a:ea typeface="微软雅黑" panose="020B0503020204020204" charset="-122"/>
              </a:rPr>
              <a:t>3.2 多视图聚类后验构建和结构学习</a:t>
            </a:r>
            <a:endParaRPr sz="2100" b="1">
              <a:solidFill>
                <a:srgbClr val="082F7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713232" y="941832"/>
            <a:ext cx="10698480" cy="24688"/>
          </a:xfrm>
          <a:prstGeom prst="rect">
            <a:avLst/>
          </a:prstGeom>
          <a:solidFill>
            <a:srgbClr val="5F8C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11311128" y="6584506"/>
            <a:ext cx="502920" cy="172085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0717D"/>
                </a:solidFill>
                <a:latin typeface="Microsoft YaHei" panose="020B0503020204020204" charset="-122"/>
                <a:ea typeface="微软雅黑" panose="020B0503020204020204" charset="-122"/>
              </a:rPr>
              <a:t>1</a:t>
            </a:r>
            <a:r>
              <a:rPr lang="en-US" sz="900" b="0">
                <a:solidFill>
                  <a:srgbClr val="60717D"/>
                </a:solidFill>
                <a:latin typeface="Microsoft YaHei" panose="020B0503020204020204" charset="-122"/>
                <a:ea typeface="微软雅黑" panose="020B0503020204020204" charset="-122"/>
              </a:rPr>
              <a:t>1</a:t>
            </a:r>
            <a:endParaRPr lang="en-US" sz="900" b="0">
              <a:solidFill>
                <a:srgbClr val="65758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" name="文本框 31"/>
          <p:cNvSpPr txBox="1"/>
          <p:nvPr/>
        </p:nvSpPr>
        <p:spPr>
          <a:xfrm>
            <a:off x="1181322" y="3740150"/>
            <a:ext cx="4724717" cy="1881505"/>
          </a:xfrm>
          <a:prstGeom prst="rect">
            <a:avLst/>
          </a:prstGeom>
          <a:noFill/>
          <a:ln w="12700" cap="flat" cmpd="sng">
            <a:noFill/>
            <a:prstDash val="sysDot"/>
            <a:round/>
          </a:ln>
        </p:spPr>
        <p:txBody>
          <a:bodyPr wrap="square" rtlCol="0">
            <a:noAutofit/>
          </a:bodyPr>
          <a:p>
            <a:pPr>
              <a:spcBef>
                <a:spcPts val="0"/>
              </a:spcBef>
              <a:spcAft>
                <a:spcPts val="0"/>
              </a:spcAft>
            </a:pPr>
            <a:r>
              <a:rPr lang="zh-CN" sz="1600" b="1">
                <a:solidFill>
                  <a:schemeClr val="tx1"/>
                </a:solidFill>
                <a:latin typeface="Microsoft YaHei" panose="020B0503020204020204" charset="-122"/>
                <a:ea typeface="微软雅黑" panose="020B0503020204020204" charset="-122"/>
              </a:rPr>
              <a:t>核心操作</a:t>
            </a:r>
            <a:endParaRPr lang="zh-CN" sz="1600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zh-CN" b="1">
              <a:solidFill>
                <a:srgbClr val="082F78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zh-CN" altLang="en-US" sz="1600">
                <a:solidFill/>
                <a:latin typeface="Microsoft YaHei" panose="020B0503020204020204" charset="-122"/>
                <a:ea typeface="微软雅黑" panose="020B0503020204020204" charset="-122"/>
              </a:rPr>
              <a:t>非线性映射：克服视图间原始维度与表达方式的异构差异。</a:t>
            </a:r>
            <a:endParaRPr lang="zh-CN" altLang="en-US" sz="1600"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zh-CN" altLang="en-US" sz="1600">
                <a:solidFill/>
                <a:latin typeface="Microsoft YaHei" panose="020B0503020204020204" charset="-122"/>
                <a:ea typeface="微软雅黑" panose="020B0503020204020204" charset="-122"/>
              </a:rPr>
              <a:t>参数共享聚类：将多视图特征映射到同一类别空间，生成软聚类后验。</a:t>
            </a:r>
            <a:endParaRPr lang="zh-CN" altLang="en-US" sz="1600"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zh-CN" altLang="en-US" sz="160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文本框 32"/>
          <p:cNvSpPr txBox="1"/>
          <p:nvPr/>
        </p:nvSpPr>
        <p:spPr>
          <a:xfrm>
            <a:off x="6476364" y="3662045"/>
            <a:ext cx="4829873" cy="2614930"/>
          </a:xfrm>
          <a:prstGeom prst="rect">
            <a:avLst/>
          </a:prstGeom>
          <a:noFill/>
          <a:ln w="12700" cmpd="sng">
            <a:noFill/>
            <a:prstDash val="sysDot"/>
          </a:ln>
        </p:spPr>
        <p:txBody>
          <a:bodyPr wrap="square" rtlCol="0">
            <a:noAutofit/>
          </a:bodyPr>
          <a:p>
            <a:pPr algn="l"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zh-CN" sz="1600" b="1">
                <a:solidFill>
                  <a:schemeClr val="tx1"/>
                </a:solidFill>
                <a:latin typeface="Microsoft YaHei" panose="020B0503020204020204" charset="-122"/>
                <a:ea typeface="微软雅黑" panose="020B0503020204020204" charset="-122"/>
              </a:rPr>
              <a:t>主要作用</a:t>
            </a:r>
            <a:endParaRPr lang="zh-CN" sz="1600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endParaRPr lang="zh-CN" altLang="en-US" sz="16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zh-CN" altLang="en-US" sz="1600">
                <a:solidFill/>
                <a:latin typeface="Microsoft YaHei" panose="020B0503020204020204" charset="-122"/>
                <a:ea typeface="微软雅黑" panose="020B0503020204020204" charset="-122"/>
                <a:cs typeface="微软雅黑" panose="020B0503020204020204" charset="-122"/>
              </a:rPr>
              <a:t>统一类别表示：把不同维度的视图映射到同一空间里。</a:t>
            </a:r>
            <a:endParaRPr lang="zh-CN" altLang="en-US" sz="16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zh-CN" altLang="en-US" sz="1600">
                <a:solidFill/>
                <a:latin typeface="Microsoft YaHei" panose="020B0503020204020204" charset="-122"/>
                <a:ea typeface="微软雅黑" panose="020B0503020204020204" charset="-122"/>
                <a:cs typeface="微软雅黑" panose="020B0503020204020204" charset="-122"/>
              </a:rPr>
              <a:t>增强结构判别：通过跨视图对比学习和聚类分配正则化，促进类别预测一致性，缓解聚类分配退化。</a:t>
            </a:r>
            <a:endParaRPr lang="zh-CN" altLang="en-US" sz="16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zh-CN" altLang="en-US" sz="1600">
                <a:solidFill/>
                <a:latin typeface="Microsoft YaHei" panose="020B0503020204020204" charset="-122"/>
                <a:ea typeface="微软雅黑" panose="020B0503020204020204" charset="-122"/>
                <a:cs typeface="微软雅黑" panose="020B0503020204020204" charset="-122"/>
              </a:rPr>
              <a:t>支持后续学习：为跨视图信息效用估计及软语义目标构建提供共同的初始预测依据。</a:t>
            </a:r>
            <a:endParaRPr lang="zh-CN" altLang="en-US" sz="16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34" name="直接箭头连接符 33"/>
          <p:cNvCxnSpPr/>
          <p:nvPr/>
        </p:nvCxnSpPr>
        <p:spPr>
          <a:xfrm>
            <a:off x="9567513" y="2032635"/>
            <a:ext cx="423545" cy="0"/>
          </a:xfrm>
          <a:prstGeom prst="straightConnector1">
            <a:avLst/>
          </a:prstGeom>
          <a:ln>
            <a:solidFill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文本框 34"/>
          <p:cNvSpPr txBox="1"/>
          <p:nvPr/>
        </p:nvSpPr>
        <p:spPr>
          <a:xfrm>
            <a:off x="10151713" y="1822450"/>
            <a:ext cx="316928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altLang="zh-CN">
                <a:solidFill/>
              </a:rPr>
              <a:t>q</a:t>
            </a:r>
            <a:endParaRPr lang="en-US" altLang="zh-CN"/>
          </a:p>
        </p:txBody>
      </p:sp>
      <p:sp>
        <p:nvSpPr>
          <p:cNvPr id="36" name="文本框 35"/>
          <p:cNvSpPr txBox="1"/>
          <p:nvPr/>
        </p:nvSpPr>
        <p:spPr>
          <a:xfrm>
            <a:off x="9441180" y="1718945"/>
            <a:ext cx="885793" cy="2794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altLang="zh-CN" sz="1400">
                <a:solidFill/>
              </a:rPr>
              <a:t>MLP</a:t>
            </a:r>
            <a:endParaRPr lang="en-US" altLang="zh-CN" sz="1400"/>
          </a:p>
        </p:txBody>
      </p:sp>
      <p:pic>
        <p:nvPicPr>
          <p:cNvPr id="2" name="图片 1" descr="锚引导特征提取迭代流程图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9755" y="969010"/>
            <a:ext cx="6916420" cy="23050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88952" cy="347472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749808" y="59436"/>
            <a:ext cx="2194560" cy="22860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0717D"/>
                </a:solidFill>
                <a:latin typeface="Microsoft YaHei" panose="020B0503020204020204" charset="-122"/>
                <a:ea typeface="微软雅黑" panose="020B0503020204020204" charset="-122"/>
              </a:rPr>
              <a:t>研究背景及意义</a:t>
            </a:r>
            <a:endParaRPr sz="1280" b="0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320040" y="1636776"/>
            <a:ext cx="1490472" cy="0"/>
          </a:xfrm>
          <a:prstGeom prst="line">
            <a:avLst/>
          </a:prstGeom>
          <a:ln w="8255">
            <a:noFill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236976" y="59436"/>
            <a:ext cx="2194560" cy="22860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0717D"/>
                </a:solidFill>
                <a:latin typeface="Microsoft YaHei" panose="020B0503020204020204" charset="-122"/>
                <a:ea typeface="微软雅黑" panose="020B0503020204020204" charset="-122"/>
              </a:rPr>
              <a:t>研究问题与思路</a:t>
            </a:r>
            <a:endParaRPr sz="1280" b="0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320040" y="2359152"/>
            <a:ext cx="1490472" cy="0"/>
          </a:xfrm>
          <a:prstGeom prst="line">
            <a:avLst/>
          </a:prstGeom>
          <a:ln w="8255">
            <a:noFill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5888736" y="310896"/>
            <a:ext cx="2057400" cy="32004"/>
          </a:xfrm>
          <a:prstGeom prst="rect">
            <a:avLst/>
          </a:prstGeom>
          <a:solidFill>
            <a:srgbClr val="5F8C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5724144" y="59436"/>
            <a:ext cx="2194560" cy="22860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83B55"/>
                </a:solidFill>
                <a:latin typeface="Microsoft YaHei" panose="020B0503020204020204" charset="-122"/>
                <a:ea typeface="微软雅黑" panose="020B0503020204020204" charset="-122"/>
              </a:rPr>
              <a:t>研究方法与技术路线</a:t>
            </a:r>
            <a:endParaRPr sz="1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211312" y="59436"/>
            <a:ext cx="2194560" cy="22860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0717D"/>
                </a:solidFill>
                <a:latin typeface="Microsoft YaHei" panose="020B0503020204020204" charset="-122"/>
                <a:ea typeface="微软雅黑" panose="020B0503020204020204" charset="-122"/>
              </a:rPr>
              <a:t>实验设计与计划</a:t>
            </a:r>
            <a:endParaRPr sz="1280" b="0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12" name="Picture 11" descr="logo_src_1_2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0" y="5961888"/>
            <a:ext cx="594360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13232" y="475488"/>
            <a:ext cx="10789920" cy="475488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83B55"/>
                </a:solidFill>
                <a:latin typeface="Microsoft YaHei" panose="020B0503020204020204" charset="-122"/>
                <a:ea typeface="微软雅黑" panose="020B0503020204020204" charset="-122"/>
              </a:rPr>
              <a:t>3.3 互补视图验证</a:t>
            </a:r>
            <a:r>
              <a:rPr lang="zh-CN" sz="2200" b="1">
                <a:solidFill>
                  <a:srgbClr val="183B55"/>
                </a:solidFill>
                <a:latin typeface="Microsoft YaHei" panose="020B0503020204020204" charset="-122"/>
                <a:ea typeface="微软雅黑" panose="020B0503020204020204" charset="-122"/>
              </a:rPr>
              <a:t>与</a:t>
            </a:r>
            <a:r>
              <a:rPr sz="2200" b="1">
                <a:solidFill>
                  <a:srgbClr val="183B55"/>
                </a:solidFill>
                <a:latin typeface="Microsoft YaHei" panose="020B0503020204020204" charset="-122"/>
                <a:ea typeface="微软雅黑" panose="020B0503020204020204" charset="-122"/>
              </a:rPr>
              <a:t>稀疏标签引导</a:t>
            </a:r>
            <a:r>
              <a:rPr lang="zh-CN" sz="2200" b="1">
                <a:solidFill>
                  <a:srgbClr val="183B55"/>
                </a:solidFill>
                <a:latin typeface="Microsoft YaHei" panose="020B0503020204020204" charset="-122"/>
                <a:ea typeface="微软雅黑" panose="020B0503020204020204" charset="-122"/>
              </a:rPr>
              <a:t>的关系构建</a:t>
            </a:r>
            <a:endParaRPr lang="zh-CN" sz="2100" b="1">
              <a:solidFill>
                <a:srgbClr val="082F7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713232" y="941832"/>
            <a:ext cx="10698480" cy="24688"/>
          </a:xfrm>
          <a:prstGeom prst="rect">
            <a:avLst/>
          </a:prstGeom>
          <a:solidFill>
            <a:srgbClr val="5F8C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11311128" y="6584506"/>
            <a:ext cx="502920" cy="172085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0717D"/>
                </a:solidFill>
                <a:latin typeface="Microsoft YaHei" panose="020B0503020204020204" charset="-122"/>
                <a:ea typeface="微软雅黑" panose="020B0503020204020204" charset="-122"/>
              </a:rPr>
              <a:t>1</a:t>
            </a:r>
            <a:r>
              <a:rPr lang="en-US" sz="900" b="0">
                <a:solidFill>
                  <a:srgbClr val="60717D"/>
                </a:solidFill>
                <a:latin typeface="Microsoft YaHei" panose="020B0503020204020204" charset="-122"/>
                <a:ea typeface="微软雅黑" panose="020B0503020204020204" charset="-122"/>
              </a:rPr>
              <a:t>2</a:t>
            </a:r>
            <a:endParaRPr lang="en-US" sz="900" b="0">
              <a:solidFill>
                <a:srgbClr val="65758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43" name="图片 42" descr="类原型与软关系计算流程图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3613150"/>
            <a:ext cx="3876675" cy="2585085"/>
          </a:xfrm>
          <a:prstGeom prst="rect">
            <a:avLst/>
          </a:prstGeom>
        </p:spPr>
      </p:pic>
      <p:sp>
        <p:nvSpPr>
          <p:cNvPr id="44" name="文本框 43"/>
          <p:cNvSpPr txBox="1"/>
          <p:nvPr/>
        </p:nvSpPr>
        <p:spPr>
          <a:xfrm>
            <a:off x="2315400" y="5309235"/>
            <a:ext cx="912812" cy="5378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altLang="zh-CN" sz="1200">
                <a:solidFill/>
                <a:latin typeface="+mn-ea"/>
              </a:rPr>
              <a:t>&lt;p,C&gt;</a:t>
            </a:r>
            <a:endParaRPr lang="en-US" altLang="zh-CN" sz="1200">
              <a:latin typeface="+mn-ea"/>
            </a:endParaRPr>
          </a:p>
        </p:txBody>
      </p:sp>
      <p:sp>
        <p:nvSpPr>
          <p:cNvPr id="45" name="文本框 44"/>
          <p:cNvSpPr txBox="1"/>
          <p:nvPr/>
        </p:nvSpPr>
        <p:spPr>
          <a:xfrm>
            <a:off x="5545296" y="1916430"/>
            <a:ext cx="6232683" cy="15119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>
              <a:spcBef>
                <a:spcPts val="0"/>
              </a:spcBef>
              <a:spcAft>
                <a:spcPts val="0"/>
              </a:spcAft>
            </a:pPr>
            <a:r>
              <a:rPr lang="zh-CN" sz="1600" b="1">
                <a:solidFill>
                  <a:schemeClr val="tx1"/>
                </a:solidFill>
                <a:latin typeface="Microsoft YaHei" panose="020B0503020204020204" charset="-122"/>
                <a:ea typeface="微软雅黑" panose="020B0503020204020204" charset="-122"/>
              </a:rPr>
              <a:t>跨视图信息效用U</a:t>
            </a:r>
            <a:endParaRPr lang="zh-CN" sz="1600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zh-CN" b="1">
              <a:solidFill>
                <a:srgbClr val="082F78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zh-CN" altLang="en-US" sz="1600">
                <a:solidFill/>
                <a:latin typeface="Microsoft YaHei" panose="020B0503020204020204" charset="-122"/>
                <a:ea typeface="微软雅黑" panose="020B0503020204020204" charset="-122"/>
                <a:cs typeface="微软雅黑" panose="020B0503020204020204" charset="-122"/>
              </a:rPr>
              <a:t>构建互补视图组，分别形成生成侧和验证侧聚类预测，判断同一样本中不同视图是否支持相同的类别，支持的程度又是多少。评估样本</a:t>
            </a:r>
            <a:r>
              <a:rPr lang="en-US" altLang="zh-CN" sz="1600">
                <a:solidFill/>
                <a:latin typeface="Microsoft YaHei" panose="020B0503020204020204" charset="-122"/>
                <a:ea typeface="微软雅黑" panose="020B0503020204020204" charset="-122"/>
                <a:cs typeface="微软雅黑" panose="020B0503020204020204" charset="-122"/>
              </a:rPr>
              <a:t>-</a:t>
            </a:r>
            <a:r>
              <a:rPr lang="zh-CN" altLang="en-US" sz="1600">
                <a:solidFill/>
                <a:latin typeface="Microsoft YaHei" panose="020B0503020204020204" charset="-122"/>
                <a:ea typeface="微软雅黑" panose="020B0503020204020204" charset="-122"/>
                <a:cs typeface="微软雅黑" panose="020B0503020204020204" charset="-122"/>
              </a:rPr>
              <a:t>动作的相对可靠性。</a:t>
            </a:r>
            <a:endParaRPr lang="zh-CN" altLang="en-US" sz="16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6" name="文本框 45"/>
          <p:cNvSpPr txBox="1"/>
          <p:nvPr/>
        </p:nvSpPr>
        <p:spPr>
          <a:xfrm>
            <a:off x="5589841" y="4015105"/>
            <a:ext cx="5865367" cy="1353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zh-CN" sz="1600" b="1">
                <a:solidFill>
                  <a:schemeClr val="tx1"/>
                </a:solidFill>
                <a:latin typeface="Microsoft YaHei" panose="020B0503020204020204" charset="-122"/>
                <a:ea typeface="微软雅黑" panose="020B0503020204020204" charset="-122"/>
              </a:rPr>
              <a:t>软语义关系目标T</a:t>
            </a:r>
            <a:endParaRPr lang="zh-CN" sz="1600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endParaRPr lang="zh-CN" b="1">
              <a:solidFill>
                <a:srgbClr val="082F78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zh-CN" altLang="en-US" sz="1600">
                <a:solidFill/>
                <a:latin typeface="Microsoft YaHei" panose="020B0503020204020204" charset="-122"/>
                <a:ea typeface="微软雅黑" panose="020B0503020204020204" charset="-122"/>
              </a:rPr>
              <a:t>提出一种基于互补视图预测与类别语义参照的软关系构建方法，利用少量标签和初始聚类后验建立软语义参照。通过动作条件下的类别匹配，构建连续软语义关系目标。</a:t>
            </a:r>
            <a:endParaRPr lang="zh-CN" altLang="en-US" sz="1600"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2" name="图片 1" descr="ChatGPT 图像 2026年10月24日 21_44_02-1"/>
          <p:cNvPicPr>
            <a:picLocks noChangeAspect="1"/>
          </p:cNvPicPr>
          <p:nvPr/>
        </p:nvPicPr>
        <p:blipFill>
          <a:blip r:embed="rId3"/>
          <a:srcRect t="12004" b="12191"/>
          <a:stretch>
            <a:fillRect/>
          </a:stretch>
        </p:blipFill>
        <p:spPr>
          <a:xfrm>
            <a:off x="819118" y="1637030"/>
            <a:ext cx="3597275" cy="153479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88952" cy="347472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749808" y="59436"/>
            <a:ext cx="2194560" cy="22860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0717D"/>
                </a:solidFill>
                <a:latin typeface="Microsoft YaHei" panose="020B0503020204020204" charset="-122"/>
                <a:ea typeface="微软雅黑" panose="020B0503020204020204" charset="-122"/>
              </a:rPr>
              <a:t>研究背景及意义</a:t>
            </a:r>
            <a:endParaRPr sz="1280" b="0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320040" y="1636776"/>
            <a:ext cx="1490472" cy="0"/>
          </a:xfrm>
          <a:prstGeom prst="line">
            <a:avLst/>
          </a:prstGeom>
          <a:ln w="8255">
            <a:noFill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236976" y="59436"/>
            <a:ext cx="2194560" cy="22860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0717D"/>
                </a:solidFill>
                <a:latin typeface="Microsoft YaHei" panose="020B0503020204020204" charset="-122"/>
                <a:ea typeface="微软雅黑" panose="020B0503020204020204" charset="-122"/>
              </a:rPr>
              <a:t>研究问题与思路</a:t>
            </a:r>
            <a:endParaRPr sz="1280" b="0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320040" y="2359152"/>
            <a:ext cx="1490472" cy="0"/>
          </a:xfrm>
          <a:prstGeom prst="line">
            <a:avLst/>
          </a:prstGeom>
          <a:ln w="8255">
            <a:noFill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5888736" y="310896"/>
            <a:ext cx="2057400" cy="32004"/>
          </a:xfrm>
          <a:prstGeom prst="rect">
            <a:avLst/>
          </a:prstGeom>
          <a:solidFill>
            <a:srgbClr val="5F8C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5724144" y="59436"/>
            <a:ext cx="2194560" cy="22860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83B55"/>
                </a:solidFill>
                <a:latin typeface="Microsoft YaHei" panose="020B0503020204020204" charset="-122"/>
                <a:ea typeface="微软雅黑" panose="020B0503020204020204" charset="-122"/>
              </a:rPr>
              <a:t>研究方法与技术路线</a:t>
            </a:r>
            <a:endParaRPr sz="1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211312" y="59436"/>
            <a:ext cx="2194560" cy="22860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0717D"/>
                </a:solidFill>
                <a:latin typeface="Microsoft YaHei" panose="020B0503020204020204" charset="-122"/>
                <a:ea typeface="微软雅黑" panose="020B0503020204020204" charset="-122"/>
              </a:rPr>
              <a:t>实验设计与计划</a:t>
            </a:r>
            <a:endParaRPr sz="1280" b="0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12" name="Picture 11" descr="logo_src_1_2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0" y="5961888"/>
            <a:ext cx="594360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13232" y="475488"/>
            <a:ext cx="10789920" cy="475488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sz="2200" b="1">
                <a:solidFill>
                  <a:srgbClr val="183B55"/>
                </a:solidFill>
                <a:latin typeface="Microsoft YaHei" panose="020B0503020204020204" charset="-122"/>
                <a:ea typeface="微软雅黑" panose="020B0503020204020204" charset="-122"/>
              </a:rPr>
              <a:t>3.</a:t>
            </a:r>
            <a:r>
              <a:rPr sz="2200" b="1">
                <a:solidFill>
                  <a:srgbClr val="183B55"/>
                </a:solidFill>
                <a:latin typeface="Microsoft YaHei" panose="020B0503020204020204" charset="-122"/>
                <a:ea typeface="微软雅黑" panose="020B0503020204020204" charset="-122"/>
              </a:rPr>
              <a:t>4 信息效用引导的软关系协同优化</a:t>
            </a:r>
            <a:endParaRPr sz="2100" b="1">
              <a:solidFill>
                <a:srgbClr val="082F7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713232" y="941832"/>
            <a:ext cx="10698480" cy="24688"/>
          </a:xfrm>
          <a:prstGeom prst="rect">
            <a:avLst/>
          </a:prstGeom>
          <a:solidFill>
            <a:srgbClr val="5F8C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11311128" y="6584506"/>
            <a:ext cx="502920" cy="172085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0717D"/>
                </a:solidFill>
                <a:latin typeface="Microsoft YaHei" panose="020B0503020204020204" charset="-122"/>
                <a:ea typeface="微软雅黑" panose="020B0503020204020204" charset="-122"/>
              </a:rPr>
              <a:t>1</a:t>
            </a:r>
            <a:r>
              <a:rPr lang="en-US" sz="900" b="0">
                <a:solidFill>
                  <a:srgbClr val="60717D"/>
                </a:solidFill>
                <a:latin typeface="Microsoft YaHei" panose="020B0503020204020204" charset="-122"/>
                <a:ea typeface="微软雅黑" panose="020B0503020204020204" charset="-122"/>
              </a:rPr>
              <a:t>3</a:t>
            </a:r>
            <a:endParaRPr lang="en-US" sz="900" b="0">
              <a:solidFill>
                <a:srgbClr val="65758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977582" y="1828165"/>
            <a:ext cx="3253263" cy="326136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p>
            <a:pPr>
              <a:spcBef>
                <a:spcPts val="0"/>
              </a:spcBef>
              <a:spcAft>
                <a:spcPts val="0"/>
              </a:spcAft>
            </a:pPr>
            <a:r>
              <a:rPr lang="zh-CN" altLang="en-US" sz="1600" b="1">
                <a:solidFill/>
                <a:latin typeface="Microsoft YaHei" panose="020B0503020204020204" charset="-122"/>
                <a:ea typeface="微软雅黑" panose="020B0503020204020204" charset="-122"/>
                <a:cs typeface="微软雅黑" panose="020B0503020204020204" charset="-122"/>
              </a:rPr>
              <a:t>差异化关系监督</a:t>
            </a:r>
            <a:endParaRPr lang="zh-CN" altLang="en-US" sz="1600" b="1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altLang="zh-CN" sz="16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zh-CN" altLang="en-US" sz="1600">
                <a:solidFill/>
                <a:latin typeface="Microsoft YaHei" panose="020B0503020204020204" charset="-122"/>
                <a:ea typeface="微软雅黑" panose="020B0503020204020204" charset="-122"/>
                <a:cs typeface="微软雅黑" panose="020B0503020204020204" charset="-122"/>
              </a:rPr>
              <a:t>利用稀疏标签构建的软语义目标约束当前关系预测，并依据对应动作的信息效用调节监督贡献，使不同预测支持程度的关系参与差异化学习。</a:t>
            </a:r>
            <a:endParaRPr lang="zh-CN" altLang="en-US" sz="16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zh-CN" altLang="en-US" sz="14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zh-CN" altLang="en-US" sz="1600" b="1">
                <a:solidFill/>
                <a:latin typeface="Microsoft YaHei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结构与语义协同优化</a:t>
            </a:r>
            <a:endParaRPr lang="zh-CN" altLang="en-US" sz="1600" b="1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altLang="zh-CN" sz="16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zh-CN" altLang="en-US" sz="1600">
                <a:solidFill/>
                <a:latin typeface="Microsoft YaHei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关系监督与原有跨视图结构学习顺序作用于共享聚类网络参数，进一步改善聚类后验。</a:t>
            </a:r>
            <a:endParaRPr lang="zh-CN" altLang="en-US" sz="16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85" name="图片 84"/>
          <p:cNvPicPr>
            <a:picLocks noChangeAspect="1"/>
          </p:cNvPicPr>
          <p:nvPr/>
        </p:nvPicPr>
        <p:blipFill>
          <a:blip r:embed="rId2">
            <a:clrChange>
              <a:clrFrom>
                <a:srgbClr val="FCFCFC">
                  <a:alpha val="100000"/>
                </a:srgbClr>
              </a:clrFrom>
              <a:clrTo>
                <a:srgbClr val="FCFCFC">
                  <a:alpha val="100000"/>
                  <a:alpha val="0"/>
                </a:srgbClr>
              </a:clrTo>
            </a:clrChange>
          </a:blip>
          <a:srcRect l="2786" t="7043"/>
          <a:stretch>
            <a:fillRect/>
          </a:stretch>
        </p:blipFill>
        <p:spPr>
          <a:xfrm>
            <a:off x="5252466" y="2125345"/>
            <a:ext cx="4875530" cy="29641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8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1051560" y="1517904"/>
            <a:ext cx="2194560" cy="86868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5F8C96"/>
                </a:solidFill>
                <a:latin typeface="Microsoft YaHei" panose="020B0503020204020204" charset="-122"/>
                <a:ea typeface="微软雅黑" panose="020B0503020204020204" charset="-122"/>
              </a:rPr>
              <a:t>04</a:t>
            </a:r>
            <a:endParaRPr sz="4800" b="1">
              <a:solidFill>
                <a:srgbClr val="D9B97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97280" y="2523744"/>
            <a:ext cx="3200400" cy="292608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F8C96"/>
                </a:solidFill>
                <a:latin typeface="Microsoft YaHei" panose="020B0503020204020204" charset="-122"/>
                <a:ea typeface="微软雅黑" panose="020B0503020204020204" charset="-122"/>
              </a:rPr>
              <a:t>PART FOUR</a:t>
            </a:r>
            <a:endParaRPr sz="1300" b="1">
              <a:solidFill>
                <a:srgbClr val="D9B97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1097280" y="3035808"/>
            <a:ext cx="1188720" cy="0"/>
          </a:xfrm>
          <a:prstGeom prst="line">
            <a:avLst/>
          </a:prstGeom>
          <a:ln w="12700">
            <a:solidFill>
              <a:srgbClr val="5F8C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78992" y="3291840"/>
            <a:ext cx="9784080" cy="91440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183B55"/>
                </a:solidFill>
                <a:latin typeface="Microsoft YaHei" panose="020B0503020204020204" charset="-122"/>
                <a:ea typeface="微软雅黑" panose="020B0503020204020204" charset="-122"/>
              </a:rPr>
              <a:t>实验设计与计划</a:t>
            </a:r>
            <a:endParaRPr sz="33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347472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749808" y="59436"/>
            <a:ext cx="2194560" cy="22860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0717D"/>
                </a:solidFill>
                <a:latin typeface="Microsoft YaHei" panose="020B0503020204020204" charset="-122"/>
                <a:ea typeface="微软雅黑" panose="020B0503020204020204" charset="-122"/>
              </a:rPr>
              <a:t>研究背景及意义</a:t>
            </a:r>
            <a:endParaRPr sz="1280" b="0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320040" y="1636776"/>
            <a:ext cx="1490472" cy="0"/>
          </a:xfrm>
          <a:prstGeom prst="line">
            <a:avLst/>
          </a:prstGeom>
          <a:ln w="8255">
            <a:noFill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236976" y="59436"/>
            <a:ext cx="2194560" cy="22860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0717D"/>
                </a:solidFill>
                <a:latin typeface="Microsoft YaHei" panose="020B0503020204020204" charset="-122"/>
                <a:ea typeface="微软雅黑" panose="020B0503020204020204" charset="-122"/>
              </a:rPr>
              <a:t>研究问题与思路</a:t>
            </a:r>
            <a:endParaRPr sz="1280" b="0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320040" y="2359152"/>
            <a:ext cx="1490472" cy="0"/>
          </a:xfrm>
          <a:prstGeom prst="line">
            <a:avLst/>
          </a:prstGeom>
          <a:ln w="8255">
            <a:noFill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724144" y="59436"/>
            <a:ext cx="2194560" cy="22860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0717D"/>
                </a:solidFill>
                <a:latin typeface="Microsoft YaHei" panose="020B0503020204020204" charset="-122"/>
                <a:ea typeface="微软雅黑" panose="020B0503020204020204" charset="-122"/>
              </a:rPr>
              <a:t>研究方法与技术路线</a:t>
            </a:r>
            <a:endParaRPr sz="1280" b="0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9" name="Connector 8"/>
          <p:cNvCxnSpPr/>
          <p:nvPr/>
        </p:nvCxnSpPr>
        <p:spPr>
          <a:xfrm>
            <a:off x="320040" y="3081528"/>
            <a:ext cx="1490472" cy="0"/>
          </a:xfrm>
          <a:prstGeom prst="line">
            <a:avLst/>
          </a:prstGeom>
          <a:ln w="8255">
            <a:noFill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375904" y="310896"/>
            <a:ext cx="2057400" cy="32004"/>
          </a:xfrm>
          <a:prstGeom prst="rect">
            <a:avLst/>
          </a:prstGeom>
          <a:solidFill>
            <a:srgbClr val="5F8C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211312" y="59436"/>
            <a:ext cx="2194560" cy="22860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83B55"/>
                </a:solidFill>
                <a:latin typeface="Microsoft YaHei" panose="020B0503020204020204" charset="-122"/>
                <a:ea typeface="微软雅黑" panose="020B0503020204020204" charset="-122"/>
              </a:rPr>
              <a:t>实验设计与计划</a:t>
            </a:r>
            <a:endParaRPr sz="1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13" name="Picture 12" descr="logo_src_1_2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0" y="5961888"/>
            <a:ext cx="594360" cy="5943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13232" y="475488"/>
            <a:ext cx="10789920" cy="475488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83B55"/>
                </a:solidFill>
                <a:latin typeface="Microsoft YaHei" panose="020B0503020204020204" charset="-122"/>
                <a:ea typeface="微软雅黑" panose="020B0503020204020204" charset="-122"/>
              </a:rPr>
              <a:t>4.1 数据集与实验协议</a:t>
            </a:r>
            <a:endParaRPr sz="2100" b="1">
              <a:solidFill>
                <a:srgbClr val="082F7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713232" y="941832"/>
            <a:ext cx="10698480" cy="24688"/>
          </a:xfrm>
          <a:prstGeom prst="rect">
            <a:avLst/>
          </a:prstGeom>
          <a:solidFill>
            <a:srgbClr val="5F8C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11311128" y="6584506"/>
            <a:ext cx="502920" cy="172085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0717D"/>
                </a:solidFill>
                <a:latin typeface="Microsoft YaHei" panose="020B0503020204020204" charset="-122"/>
                <a:ea typeface="微软雅黑" panose="020B0503020204020204" charset="-122"/>
              </a:rPr>
              <a:t>1</a:t>
            </a:r>
            <a:r>
              <a:rPr lang="en-US" sz="900" b="0">
                <a:solidFill>
                  <a:srgbClr val="60717D"/>
                </a:solidFill>
                <a:latin typeface="Microsoft YaHei" panose="020B0503020204020204" charset="-122"/>
                <a:ea typeface="微软雅黑" panose="020B0503020204020204" charset="-122"/>
              </a:rPr>
              <a:t>5</a:t>
            </a:r>
            <a:endParaRPr lang="en-US" sz="900" b="0">
              <a:solidFill>
                <a:srgbClr val="65758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913028" y="1069848"/>
            <a:ext cx="10515600" cy="36576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53646"/>
                </a:solidFill>
                <a:latin typeface="Microsoft YaHei" panose="020B0503020204020204" charset="-122"/>
                <a:ea typeface="微软雅黑" panose="020B0503020204020204" charset="-122"/>
              </a:rPr>
              <a:t>8个公开多视图基准：自然图像、显微图像、手写数字、物体图像与视频。</a:t>
            </a:r>
            <a:endParaRPr sz="1600" b="0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955090" y="1664208"/>
            <a:ext cx="7171639" cy="475488"/>
          </a:xfrm>
          <a:prstGeom prst="rect">
            <a:avLst/>
          </a:prstGeom>
          <a:solidFill>
            <a:srgbClr val="18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1070762" y="1746504"/>
            <a:ext cx="2881274" cy="292608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 panose="020B0503020204020204" charset="-122"/>
                <a:ea typeface="微软雅黑" panose="020B0503020204020204" charset="-122"/>
              </a:rPr>
              <a:t>数据集</a:t>
            </a:r>
            <a:endParaRPr sz="1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130802" y="1746504"/>
            <a:ext cx="1272387" cy="292608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 panose="020B0503020204020204" charset="-122"/>
                <a:ea typeface="微软雅黑" panose="020B0503020204020204" charset="-122"/>
              </a:rPr>
              <a:t>样本 N</a:t>
            </a:r>
            <a:endParaRPr sz="1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361127" y="1746504"/>
            <a:ext cx="1272387" cy="292608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 panose="020B0503020204020204" charset="-122"/>
                <a:ea typeface="微软雅黑" panose="020B0503020204020204" charset="-122"/>
              </a:rPr>
              <a:t>视图 V</a:t>
            </a:r>
            <a:endParaRPr sz="1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654545" y="1746504"/>
            <a:ext cx="1272387" cy="292608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 panose="020B0503020204020204" charset="-122"/>
                <a:ea typeface="微软雅黑" panose="020B0503020204020204" charset="-122"/>
              </a:rPr>
              <a:t>类别 K</a:t>
            </a:r>
            <a:endParaRPr sz="1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955090" y="2148840"/>
            <a:ext cx="7171639" cy="466344"/>
          </a:xfrm>
          <a:prstGeom prst="rect">
            <a:avLst/>
          </a:prstGeom>
          <a:solidFill>
            <a:srgbClr val="EE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1070762" y="2221992"/>
            <a:ext cx="2881274" cy="32004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53646"/>
                </a:solidFill>
                <a:latin typeface="Microsoft YaHei" panose="020B0503020204020204" charset="-122"/>
                <a:ea typeface="微软雅黑" panose="020B0503020204020204" charset="-122"/>
              </a:rPr>
              <a:t>MSRC</a:t>
            </a:r>
            <a:endParaRPr sz="1400" b="1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130802" y="2221992"/>
            <a:ext cx="1230325" cy="32004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53646"/>
                </a:solidFill>
                <a:latin typeface="Microsoft YaHei" panose="020B0503020204020204" charset="-122"/>
                <a:ea typeface="微软雅黑" panose="020B0503020204020204" charset="-122"/>
              </a:rPr>
              <a:t>210</a:t>
            </a:r>
            <a:endParaRPr sz="1400" b="0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361127" y="2221992"/>
            <a:ext cx="1230325" cy="32004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53646"/>
                </a:solidFill>
                <a:latin typeface="Microsoft YaHei" panose="020B0503020204020204" charset="-122"/>
                <a:ea typeface="微软雅黑" panose="020B0503020204020204" charset="-122"/>
              </a:rPr>
              <a:t>4</a:t>
            </a:r>
            <a:endParaRPr sz="1400" b="0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654545" y="2221992"/>
            <a:ext cx="1230325" cy="32004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53646"/>
                </a:solidFill>
                <a:latin typeface="Microsoft YaHei" panose="020B0503020204020204" charset="-122"/>
                <a:ea typeface="微软雅黑" panose="020B0503020204020204" charset="-122"/>
              </a:rPr>
              <a:t>7</a:t>
            </a:r>
            <a:endParaRPr sz="1400" b="0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955090" y="2624328"/>
            <a:ext cx="7171639" cy="4663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1070762" y="2697480"/>
            <a:ext cx="2881274" cy="32004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53646"/>
                </a:solidFill>
                <a:latin typeface="Microsoft YaHei" panose="020B0503020204020204" charset="-122"/>
                <a:ea typeface="微软雅黑" panose="020B0503020204020204" charset="-122"/>
              </a:rPr>
              <a:t>BDGP</a:t>
            </a:r>
            <a:endParaRPr sz="1400" b="1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130802" y="2697480"/>
            <a:ext cx="1230325" cy="32004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53646"/>
                </a:solidFill>
                <a:latin typeface="Microsoft YaHei" panose="020B0503020204020204" charset="-122"/>
                <a:ea typeface="微软雅黑" panose="020B0503020204020204" charset="-122"/>
              </a:rPr>
              <a:t>2500</a:t>
            </a:r>
            <a:endParaRPr sz="1400" b="0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5361127" y="2697480"/>
            <a:ext cx="1230325" cy="32004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53646"/>
                </a:solidFill>
                <a:latin typeface="Microsoft YaHei" panose="020B0503020204020204" charset="-122"/>
                <a:ea typeface="微软雅黑" panose="020B0503020204020204" charset="-122"/>
              </a:rPr>
              <a:t>2</a:t>
            </a:r>
            <a:endParaRPr sz="1400" b="0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6654545" y="2697480"/>
            <a:ext cx="1230325" cy="32004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53646"/>
                </a:solidFill>
                <a:latin typeface="Microsoft YaHei" panose="020B0503020204020204" charset="-122"/>
                <a:ea typeface="微软雅黑" panose="020B0503020204020204" charset="-122"/>
              </a:rPr>
              <a:t>5</a:t>
            </a:r>
            <a:endParaRPr sz="1400" b="0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955090" y="3099816"/>
            <a:ext cx="7171639" cy="466344"/>
          </a:xfrm>
          <a:prstGeom prst="rect">
            <a:avLst/>
          </a:prstGeom>
          <a:solidFill>
            <a:srgbClr val="EE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34" name="TextBox 33"/>
          <p:cNvSpPr txBox="1"/>
          <p:nvPr/>
        </p:nvSpPr>
        <p:spPr>
          <a:xfrm>
            <a:off x="1070762" y="3172968"/>
            <a:ext cx="2881274" cy="32004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53646"/>
                </a:solidFill>
                <a:latin typeface="Microsoft YaHei" panose="020B0503020204020204" charset="-122"/>
                <a:ea typeface="微软雅黑" panose="020B0503020204020204" charset="-122"/>
              </a:rPr>
              <a:t>HandWrite</a:t>
            </a:r>
            <a:endParaRPr sz="1400" b="1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4130802" y="3172968"/>
            <a:ext cx="1230325" cy="32004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53646"/>
                </a:solidFill>
                <a:latin typeface="Microsoft YaHei" panose="020B0503020204020204" charset="-122"/>
                <a:ea typeface="微软雅黑" panose="020B0503020204020204" charset="-122"/>
              </a:rPr>
              <a:t>2000</a:t>
            </a:r>
            <a:endParaRPr sz="1400" b="0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5361127" y="3172968"/>
            <a:ext cx="1230325" cy="32004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53646"/>
                </a:solidFill>
                <a:latin typeface="Microsoft YaHei" panose="020B0503020204020204" charset="-122"/>
                <a:ea typeface="微软雅黑" panose="020B0503020204020204" charset="-122"/>
              </a:rPr>
              <a:t>6</a:t>
            </a:r>
            <a:endParaRPr sz="1400" b="0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6654545" y="3172968"/>
            <a:ext cx="1230325" cy="32004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53646"/>
                </a:solidFill>
                <a:latin typeface="Microsoft YaHei" panose="020B0503020204020204" charset="-122"/>
                <a:ea typeface="微软雅黑" panose="020B0503020204020204" charset="-122"/>
              </a:rPr>
              <a:t>10</a:t>
            </a:r>
            <a:endParaRPr sz="1400" b="0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955090" y="3575304"/>
            <a:ext cx="7171639" cy="4663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39" name="TextBox 38"/>
          <p:cNvSpPr txBox="1"/>
          <p:nvPr/>
        </p:nvSpPr>
        <p:spPr>
          <a:xfrm>
            <a:off x="1070762" y="3648456"/>
            <a:ext cx="2881274" cy="32004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53646"/>
                </a:solidFill>
                <a:latin typeface="Microsoft YaHei" panose="020B0503020204020204" charset="-122"/>
                <a:ea typeface="微软雅黑" panose="020B0503020204020204" charset="-122"/>
              </a:rPr>
              <a:t>COIL20</a:t>
            </a:r>
            <a:endParaRPr sz="1400" b="1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4130802" y="3648456"/>
            <a:ext cx="1230325" cy="32004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53646"/>
                </a:solidFill>
                <a:latin typeface="Microsoft YaHei" panose="020B0503020204020204" charset="-122"/>
                <a:ea typeface="微软雅黑" panose="020B0503020204020204" charset="-122"/>
              </a:rPr>
              <a:t>1440</a:t>
            </a:r>
            <a:endParaRPr sz="1400" b="0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5361127" y="3648456"/>
            <a:ext cx="1230325" cy="32004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53646"/>
                </a:solidFill>
                <a:latin typeface="Microsoft YaHei" panose="020B0503020204020204" charset="-122"/>
                <a:ea typeface="微软雅黑" panose="020B0503020204020204" charset="-122"/>
              </a:rPr>
              <a:t>3</a:t>
            </a:r>
            <a:endParaRPr sz="1400" b="0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6654545" y="3648456"/>
            <a:ext cx="1230325" cy="32004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53646"/>
                </a:solidFill>
                <a:latin typeface="Microsoft YaHei" panose="020B0503020204020204" charset="-122"/>
                <a:ea typeface="微软雅黑" panose="020B0503020204020204" charset="-122"/>
              </a:rPr>
              <a:t>20</a:t>
            </a:r>
            <a:endParaRPr sz="1400" b="0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955090" y="4050791"/>
            <a:ext cx="7171639" cy="466344"/>
          </a:xfrm>
          <a:prstGeom prst="rect">
            <a:avLst/>
          </a:prstGeom>
          <a:solidFill>
            <a:srgbClr val="EE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44" name="TextBox 43"/>
          <p:cNvSpPr txBox="1"/>
          <p:nvPr/>
        </p:nvSpPr>
        <p:spPr>
          <a:xfrm>
            <a:off x="1070762" y="4123944"/>
            <a:ext cx="2881274" cy="32004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53646"/>
                </a:solidFill>
                <a:latin typeface="Microsoft YaHei" panose="020B0503020204020204" charset="-122"/>
                <a:ea typeface="微软雅黑" panose="020B0503020204020204" charset="-122"/>
              </a:rPr>
              <a:t>Caltech-5V</a:t>
            </a:r>
            <a:endParaRPr sz="1400" b="1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4130802" y="4123944"/>
            <a:ext cx="1230325" cy="32004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53646"/>
                </a:solidFill>
                <a:latin typeface="Microsoft YaHei" panose="020B0503020204020204" charset="-122"/>
                <a:ea typeface="微软雅黑" panose="020B0503020204020204" charset="-122"/>
              </a:rPr>
              <a:t>1400</a:t>
            </a:r>
            <a:endParaRPr sz="1400" b="0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5361127" y="4123944"/>
            <a:ext cx="1230325" cy="32004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53646"/>
                </a:solidFill>
                <a:latin typeface="Microsoft YaHei" panose="020B0503020204020204" charset="-122"/>
                <a:ea typeface="微软雅黑" panose="020B0503020204020204" charset="-122"/>
              </a:rPr>
              <a:t>5</a:t>
            </a:r>
            <a:endParaRPr sz="1400" b="0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6654545" y="4123944"/>
            <a:ext cx="1230325" cy="32004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53646"/>
                </a:solidFill>
                <a:latin typeface="Microsoft YaHei" panose="020B0503020204020204" charset="-122"/>
                <a:ea typeface="微软雅黑" panose="020B0503020204020204" charset="-122"/>
              </a:rPr>
              <a:t>7</a:t>
            </a:r>
            <a:endParaRPr sz="1400" b="0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955090" y="4526280"/>
            <a:ext cx="7171639" cy="4663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49" name="TextBox 48"/>
          <p:cNvSpPr txBox="1"/>
          <p:nvPr/>
        </p:nvSpPr>
        <p:spPr>
          <a:xfrm>
            <a:off x="1070762" y="4599432"/>
            <a:ext cx="2881274" cy="32004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53646"/>
                </a:solidFill>
                <a:latin typeface="Microsoft YaHei" panose="020B0503020204020204" charset="-122"/>
                <a:ea typeface="微软雅黑" panose="020B0503020204020204" charset="-122"/>
              </a:rPr>
              <a:t>MNIST-USPS</a:t>
            </a:r>
            <a:endParaRPr sz="1400" b="1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4130802" y="4599432"/>
            <a:ext cx="1230325" cy="32004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53646"/>
                </a:solidFill>
                <a:latin typeface="Microsoft YaHei" panose="020B0503020204020204" charset="-122"/>
                <a:ea typeface="微软雅黑" panose="020B0503020204020204" charset="-122"/>
              </a:rPr>
              <a:t>5000</a:t>
            </a:r>
            <a:endParaRPr sz="1400" b="0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5361127" y="4599432"/>
            <a:ext cx="1230325" cy="32004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53646"/>
                </a:solidFill>
                <a:latin typeface="Microsoft YaHei" panose="020B0503020204020204" charset="-122"/>
                <a:ea typeface="微软雅黑" panose="020B0503020204020204" charset="-122"/>
              </a:rPr>
              <a:t>2</a:t>
            </a:r>
            <a:endParaRPr sz="1400" b="0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6654545" y="4599432"/>
            <a:ext cx="1230325" cy="32004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53646"/>
                </a:solidFill>
                <a:latin typeface="Microsoft YaHei" panose="020B0503020204020204" charset="-122"/>
                <a:ea typeface="微软雅黑" panose="020B0503020204020204" charset="-122"/>
              </a:rPr>
              <a:t>10</a:t>
            </a:r>
            <a:endParaRPr sz="1400" b="0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955090" y="5001768"/>
            <a:ext cx="7171639" cy="466344"/>
          </a:xfrm>
          <a:prstGeom prst="rect">
            <a:avLst/>
          </a:prstGeom>
          <a:solidFill>
            <a:srgbClr val="EE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54" name="TextBox 53"/>
          <p:cNvSpPr txBox="1"/>
          <p:nvPr/>
        </p:nvSpPr>
        <p:spPr>
          <a:xfrm>
            <a:off x="1070762" y="5074920"/>
            <a:ext cx="2881274" cy="32004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53646"/>
                </a:solidFill>
                <a:latin typeface="Microsoft YaHei" panose="020B0503020204020204" charset="-122"/>
                <a:ea typeface="微软雅黑" panose="020B0503020204020204" charset="-122"/>
              </a:rPr>
              <a:t>ALOI</a:t>
            </a:r>
            <a:endParaRPr sz="1400" b="1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4130802" y="5074920"/>
            <a:ext cx="1230325" cy="32004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53646"/>
                </a:solidFill>
                <a:latin typeface="Microsoft YaHei" panose="020B0503020204020204" charset="-122"/>
                <a:ea typeface="微软雅黑" panose="020B0503020204020204" charset="-122"/>
              </a:rPr>
              <a:t>10800</a:t>
            </a:r>
            <a:endParaRPr sz="1400" b="0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5361127" y="5074920"/>
            <a:ext cx="1230325" cy="32004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53646"/>
                </a:solidFill>
                <a:latin typeface="Microsoft YaHei" panose="020B0503020204020204" charset="-122"/>
                <a:ea typeface="微软雅黑" panose="020B0503020204020204" charset="-122"/>
              </a:rPr>
              <a:t>4</a:t>
            </a:r>
            <a:endParaRPr sz="1400" b="0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6654545" y="5074920"/>
            <a:ext cx="1230325" cy="32004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53646"/>
                </a:solidFill>
                <a:latin typeface="Microsoft YaHei" panose="020B0503020204020204" charset="-122"/>
                <a:ea typeface="微软雅黑" panose="020B0503020204020204" charset="-122"/>
              </a:rPr>
              <a:t>100</a:t>
            </a:r>
            <a:endParaRPr sz="1400" b="0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955090" y="5477256"/>
            <a:ext cx="7171639" cy="4663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59" name="TextBox 58"/>
          <p:cNvSpPr txBox="1"/>
          <p:nvPr/>
        </p:nvSpPr>
        <p:spPr>
          <a:xfrm>
            <a:off x="1070762" y="5550408"/>
            <a:ext cx="2881274" cy="32004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53646"/>
                </a:solidFill>
                <a:latin typeface="Microsoft YaHei" panose="020B0503020204020204" charset="-122"/>
                <a:ea typeface="微软雅黑" panose="020B0503020204020204" charset="-122"/>
              </a:rPr>
              <a:t>CCV</a:t>
            </a:r>
            <a:endParaRPr sz="1400" b="1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4130802" y="5550408"/>
            <a:ext cx="1230325" cy="32004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53646"/>
                </a:solidFill>
                <a:latin typeface="Microsoft YaHei" panose="020B0503020204020204" charset="-122"/>
                <a:ea typeface="微软雅黑" panose="020B0503020204020204" charset="-122"/>
              </a:rPr>
              <a:t>6773</a:t>
            </a:r>
            <a:endParaRPr sz="1400" b="0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5361127" y="5550408"/>
            <a:ext cx="1230325" cy="32004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53646"/>
                </a:solidFill>
                <a:latin typeface="Microsoft YaHei" panose="020B0503020204020204" charset="-122"/>
                <a:ea typeface="微软雅黑" panose="020B0503020204020204" charset="-122"/>
              </a:rPr>
              <a:t>3</a:t>
            </a:r>
            <a:endParaRPr sz="1400" b="0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6654545" y="5550408"/>
            <a:ext cx="1230325" cy="32004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53646"/>
                </a:solidFill>
                <a:latin typeface="Microsoft YaHei" panose="020B0503020204020204" charset="-122"/>
                <a:ea typeface="微软雅黑" panose="020B0503020204020204" charset="-122"/>
              </a:rPr>
              <a:t>20</a:t>
            </a:r>
            <a:endParaRPr sz="1400" b="0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8347557" y="1664208"/>
            <a:ext cx="2755087" cy="4370832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64" name="Rectangle 63"/>
          <p:cNvSpPr/>
          <p:nvPr/>
        </p:nvSpPr>
        <p:spPr>
          <a:xfrm>
            <a:off x="8347557" y="1664208"/>
            <a:ext cx="73609" cy="4370832"/>
          </a:xfrm>
          <a:prstGeom prst="rect">
            <a:avLst/>
          </a:prstGeom>
          <a:solidFill>
            <a:srgbClr val="18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65" name="TextBox 64"/>
          <p:cNvSpPr txBox="1"/>
          <p:nvPr/>
        </p:nvSpPr>
        <p:spPr>
          <a:xfrm>
            <a:off x="8578900" y="1792224"/>
            <a:ext cx="2313432" cy="356616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83B55"/>
                </a:solidFill>
                <a:latin typeface="Microsoft YaHei" panose="020B0503020204020204" charset="-122"/>
                <a:ea typeface="微软雅黑" panose="020B0503020204020204" charset="-122"/>
              </a:rPr>
              <a:t>统一实验设置</a:t>
            </a:r>
            <a:endParaRPr sz="1600" b="1">
              <a:solidFill>
                <a:srgbClr val="0A398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8578900" y="2240280"/>
            <a:ext cx="2292400" cy="3685032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53646"/>
                </a:solidFill>
                <a:latin typeface="Microsoft YaHei" panose="020B0503020204020204" charset="-122"/>
                <a:ea typeface="微软雅黑" panose="020B0503020204020204" charset="-122"/>
              </a:rPr>
              <a:t>观测噪声：控制污染强度与污染视图比例</a:t>
            </a:r>
            <a:endParaRPr sz="1400" b="0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</a:pPr>
          </a:p>
          <a:p>
            <a:pPr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53646"/>
                </a:solidFill>
                <a:latin typeface="Microsoft YaHei" panose="020B0503020204020204" charset="-122"/>
                <a:ea typeface="微软雅黑" panose="020B0503020204020204" charset="-122"/>
              </a:rPr>
              <a:t>少量标注：主要设置每类2个</a:t>
            </a:r>
            <a:endParaRPr sz="1400" b="0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</a:pPr>
          </a:p>
          <a:p>
            <a:pPr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53646"/>
                </a:solidFill>
                <a:latin typeface="Microsoft YaHei" panose="020B0503020204020204" charset="-122"/>
                <a:ea typeface="微软雅黑" panose="020B0503020204020204" charset="-122"/>
              </a:rPr>
              <a:t>评价：ACC / NMI / ARI</a:t>
            </a:r>
            <a:endParaRPr sz="1400" b="0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</a:pPr>
          </a:p>
          <a:p>
            <a:pPr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53646"/>
                </a:solidFill>
                <a:latin typeface="Microsoft YaHei" panose="020B0503020204020204" charset="-122"/>
                <a:ea typeface="微软雅黑" panose="020B0503020204020204" charset="-122"/>
              </a:rPr>
              <a:t>重复：多随机种子</a:t>
            </a:r>
            <a:endParaRPr sz="1400" b="0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88952" cy="347472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749808" y="59436"/>
            <a:ext cx="2194560" cy="22860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0717D"/>
                </a:solidFill>
                <a:latin typeface="Microsoft YaHei" panose="020B0503020204020204" charset="-122"/>
                <a:ea typeface="微软雅黑" panose="020B0503020204020204" charset="-122"/>
              </a:rPr>
              <a:t>研究背景及意义</a:t>
            </a:r>
            <a:endParaRPr sz="1280" b="0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320040" y="1636776"/>
            <a:ext cx="1490472" cy="0"/>
          </a:xfrm>
          <a:prstGeom prst="line">
            <a:avLst/>
          </a:prstGeom>
          <a:ln w="8255">
            <a:noFill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236976" y="59436"/>
            <a:ext cx="2194560" cy="22860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0717D"/>
                </a:solidFill>
                <a:latin typeface="Microsoft YaHei" panose="020B0503020204020204" charset="-122"/>
                <a:ea typeface="微软雅黑" panose="020B0503020204020204" charset="-122"/>
              </a:rPr>
              <a:t>研究问题与思路</a:t>
            </a:r>
            <a:endParaRPr sz="1280" b="0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320040" y="2359152"/>
            <a:ext cx="1490472" cy="0"/>
          </a:xfrm>
          <a:prstGeom prst="line">
            <a:avLst/>
          </a:prstGeom>
          <a:ln w="8255">
            <a:noFill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724144" y="59436"/>
            <a:ext cx="2194560" cy="22860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0717D"/>
                </a:solidFill>
                <a:latin typeface="Microsoft YaHei" panose="020B0503020204020204" charset="-122"/>
                <a:ea typeface="微软雅黑" panose="020B0503020204020204" charset="-122"/>
              </a:rPr>
              <a:t>研究方法与技术路线</a:t>
            </a:r>
            <a:endParaRPr sz="1280" b="0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9" name="Connector 8"/>
          <p:cNvCxnSpPr/>
          <p:nvPr/>
        </p:nvCxnSpPr>
        <p:spPr>
          <a:xfrm>
            <a:off x="320040" y="3081528"/>
            <a:ext cx="1490472" cy="0"/>
          </a:xfrm>
          <a:prstGeom prst="line">
            <a:avLst/>
          </a:prstGeom>
          <a:ln w="8255">
            <a:noFill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375904" y="310896"/>
            <a:ext cx="2057400" cy="32004"/>
          </a:xfrm>
          <a:prstGeom prst="rect">
            <a:avLst/>
          </a:prstGeom>
          <a:solidFill>
            <a:srgbClr val="5F8C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211312" y="59436"/>
            <a:ext cx="2194560" cy="22860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83B55"/>
                </a:solidFill>
                <a:latin typeface="Microsoft YaHei" panose="020B0503020204020204" charset="-122"/>
                <a:ea typeface="微软雅黑" panose="020B0503020204020204" charset="-122"/>
              </a:rPr>
              <a:t>实验设计与计划</a:t>
            </a:r>
            <a:endParaRPr sz="1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13" name="Picture 12" descr="logo_src_1_2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0" y="5961888"/>
            <a:ext cx="594360" cy="5943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13232" y="475488"/>
            <a:ext cx="10789920" cy="475488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sz="2200" b="1">
                <a:solidFill>
                  <a:srgbClr val="183B55"/>
                </a:solidFill>
                <a:latin typeface="Microsoft YaHei" panose="020B0503020204020204" charset="-122"/>
                <a:ea typeface="微软雅黑" panose="020B0503020204020204" charset="-122"/>
              </a:rPr>
              <a:t>4.2 实验结果</a:t>
            </a:r>
            <a:endParaRPr sz="2100" b="1">
              <a:solidFill>
                <a:srgbClr val="082F7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713232" y="941832"/>
            <a:ext cx="10698480" cy="24688"/>
          </a:xfrm>
          <a:prstGeom prst="rect">
            <a:avLst/>
          </a:prstGeom>
          <a:solidFill>
            <a:srgbClr val="5F8C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11311128" y="6584506"/>
            <a:ext cx="502920" cy="172085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0717D"/>
                </a:solidFill>
                <a:latin typeface="Microsoft YaHei" panose="020B0503020204020204" charset="-122"/>
                <a:ea typeface="微软雅黑" panose="020B0503020204020204" charset="-122"/>
              </a:rPr>
              <a:t>1</a:t>
            </a:r>
            <a:r>
              <a:rPr lang="en-US" sz="900" b="0">
                <a:solidFill>
                  <a:srgbClr val="60717D"/>
                </a:solidFill>
                <a:latin typeface="Microsoft YaHei" panose="020B0503020204020204" charset="-122"/>
                <a:ea typeface="微软雅黑" panose="020B0503020204020204" charset="-122"/>
              </a:rPr>
              <a:t>6</a:t>
            </a:r>
            <a:endParaRPr lang="en-US" sz="900" b="0">
              <a:solidFill>
                <a:srgbClr val="65758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2798825" y="1156335"/>
            <a:ext cx="677745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>
              <a:spcBef>
                <a:spcPts val="0"/>
              </a:spcBef>
              <a:spcAft>
                <a:spcPts val="0"/>
              </a:spcAft>
            </a:pPr>
            <a:r>
              <a:rPr lang="zh-CN" altLang="en-US" sz="1200">
                <a:solidFill/>
                <a:latin typeface="Microsoft YaHei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在噪声为</a:t>
            </a:r>
            <a:r>
              <a:rPr lang="en-US" altLang="zh-CN" sz="1200">
                <a:solidFill/>
                <a:latin typeface="Microsoft YaHei" panose="020B0503020204020204" charset="-122"/>
                <a:ea typeface="微软雅黑" panose="020B0503020204020204" charset="-122"/>
                <a:cs typeface="微软雅黑" panose="020B0503020204020204" charset="-122"/>
              </a:rPr>
              <a:t>2.5dB</a:t>
            </a:r>
            <a:r>
              <a:rPr lang="zh-CN" altLang="en-US" sz="1200">
                <a:solidFill/>
                <a:latin typeface="Microsoft YaHei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，标签数量为</a:t>
            </a:r>
            <a:r>
              <a:rPr lang="en-US" altLang="zh-CN" sz="1200">
                <a:solidFill/>
                <a:latin typeface="Microsoft YaHei" panose="020B0503020204020204" charset="-122"/>
                <a:ea typeface="微软雅黑" panose="020B0503020204020204" charset="-122"/>
                <a:cs typeface="微软雅黑" panose="020B0503020204020204" charset="-122"/>
              </a:rPr>
              <a:t>2</a:t>
            </a:r>
            <a:r>
              <a:rPr lang="zh-CN" altLang="en-US" sz="1200">
                <a:solidFill/>
                <a:latin typeface="Microsoft YaHei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的情况下，在不同对比方法以及不同数据集上的实验</a:t>
            </a:r>
            <a:endParaRPr lang="zh-CN" altLang="en-US" sz="12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12" name="图片 11" descr="Table1_MSRC_BDGP_HandWrite_Caltech_Transparent"/>
          <p:cNvPicPr>
            <a:picLocks noChangeAspect="1"/>
          </p:cNvPicPr>
          <p:nvPr/>
        </p:nvPicPr>
        <p:blipFill>
          <a:blip r:embed="rId2"/>
          <a:srcRect r="43453"/>
          <a:stretch>
            <a:fillRect/>
          </a:stretch>
        </p:blipFill>
        <p:spPr>
          <a:xfrm>
            <a:off x="2476055" y="1718945"/>
            <a:ext cx="5314315" cy="2051685"/>
          </a:xfrm>
          <a:prstGeom prst="rect">
            <a:avLst/>
          </a:prstGeom>
        </p:spPr>
      </p:pic>
      <p:pic>
        <p:nvPicPr>
          <p:cNvPr id="18" name="图片 17" descr="Table2_MNIST_COIL20_ALOI_CCV_Transparent"/>
          <p:cNvPicPr>
            <a:picLocks noChangeAspect="1"/>
          </p:cNvPicPr>
          <p:nvPr/>
        </p:nvPicPr>
        <p:blipFill>
          <a:blip r:embed="rId3"/>
          <a:srcRect r="43460"/>
          <a:stretch>
            <a:fillRect/>
          </a:stretch>
        </p:blipFill>
        <p:spPr>
          <a:xfrm>
            <a:off x="2476055" y="4057650"/>
            <a:ext cx="5314315" cy="2051685"/>
          </a:xfrm>
          <a:prstGeom prst="rect">
            <a:avLst/>
          </a:prstGeom>
        </p:spPr>
      </p:pic>
      <p:pic>
        <p:nvPicPr>
          <p:cNvPr id="22" name="图片 21" descr="圆角矩形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15599" y="3223260"/>
            <a:ext cx="494665" cy="205740"/>
          </a:xfrm>
          <a:prstGeom prst="rect">
            <a:avLst/>
          </a:prstGeom>
        </p:spPr>
      </p:pic>
      <p:pic>
        <p:nvPicPr>
          <p:cNvPr id="23" name="图片 22" descr="圆角矩形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15599" y="5598160"/>
            <a:ext cx="494665" cy="205740"/>
          </a:xfrm>
          <a:prstGeom prst="rect">
            <a:avLst/>
          </a:prstGeom>
        </p:spPr>
      </p:pic>
      <p:pic>
        <p:nvPicPr>
          <p:cNvPr id="2" name="图片 1" descr="圆角矩形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009138" y="3308985"/>
            <a:ext cx="522605" cy="286385"/>
          </a:xfrm>
          <a:prstGeom prst="rect">
            <a:avLst/>
          </a:prstGeom>
        </p:spPr>
      </p:pic>
      <p:pic>
        <p:nvPicPr>
          <p:cNvPr id="19" name="图片 18" descr="圆角矩形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009138" y="5664200"/>
            <a:ext cx="522605" cy="28638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88952" cy="347472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749808" y="59436"/>
            <a:ext cx="2194560" cy="22860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0717D"/>
                </a:solidFill>
                <a:latin typeface="Microsoft YaHei" panose="020B0503020204020204" charset="-122"/>
                <a:ea typeface="微软雅黑" panose="020B0503020204020204" charset="-122"/>
              </a:rPr>
              <a:t>研究背景及意义</a:t>
            </a:r>
            <a:endParaRPr sz="1280" b="0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320040" y="1636776"/>
            <a:ext cx="1490472" cy="0"/>
          </a:xfrm>
          <a:prstGeom prst="line">
            <a:avLst/>
          </a:prstGeom>
          <a:ln w="8255">
            <a:noFill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236976" y="59436"/>
            <a:ext cx="2194560" cy="22860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0717D"/>
                </a:solidFill>
                <a:latin typeface="Microsoft YaHei" panose="020B0503020204020204" charset="-122"/>
                <a:ea typeface="微软雅黑" panose="020B0503020204020204" charset="-122"/>
              </a:rPr>
              <a:t>研究问题与思路</a:t>
            </a:r>
            <a:endParaRPr sz="1280" b="0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320040" y="2359152"/>
            <a:ext cx="1490472" cy="0"/>
          </a:xfrm>
          <a:prstGeom prst="line">
            <a:avLst/>
          </a:prstGeom>
          <a:ln w="8255">
            <a:noFill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724144" y="59436"/>
            <a:ext cx="2194560" cy="22860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0717D"/>
                </a:solidFill>
                <a:latin typeface="Microsoft YaHei" panose="020B0503020204020204" charset="-122"/>
                <a:ea typeface="微软雅黑" panose="020B0503020204020204" charset="-122"/>
              </a:rPr>
              <a:t>研究方法与技术路线</a:t>
            </a:r>
            <a:endParaRPr sz="1280" b="0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9" name="Connector 8"/>
          <p:cNvCxnSpPr/>
          <p:nvPr/>
        </p:nvCxnSpPr>
        <p:spPr>
          <a:xfrm>
            <a:off x="320040" y="3081528"/>
            <a:ext cx="1490472" cy="0"/>
          </a:xfrm>
          <a:prstGeom prst="line">
            <a:avLst/>
          </a:prstGeom>
          <a:ln w="8255">
            <a:noFill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375904" y="310896"/>
            <a:ext cx="2057400" cy="32004"/>
          </a:xfrm>
          <a:prstGeom prst="rect">
            <a:avLst/>
          </a:prstGeom>
          <a:solidFill>
            <a:srgbClr val="5F8C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211312" y="59436"/>
            <a:ext cx="2194560" cy="22860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83B55"/>
                </a:solidFill>
                <a:latin typeface="Microsoft YaHei" panose="020B0503020204020204" charset="-122"/>
                <a:ea typeface="微软雅黑" panose="020B0503020204020204" charset="-122"/>
              </a:rPr>
              <a:t>实验设计与计划</a:t>
            </a:r>
            <a:endParaRPr sz="1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13" name="Picture 12" descr="logo_src_1_2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0" y="5961888"/>
            <a:ext cx="594360" cy="5943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13232" y="475488"/>
            <a:ext cx="10789920" cy="475488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83B55"/>
                </a:solidFill>
                <a:latin typeface="Microsoft YaHei" panose="020B0503020204020204" charset="-122"/>
                <a:ea typeface="微软雅黑" panose="020B0503020204020204" charset="-122"/>
              </a:rPr>
              <a:t>4.2 </a:t>
            </a:r>
            <a:r>
              <a:rPr lang="zh-CN" sz="2200" b="1">
                <a:solidFill>
                  <a:srgbClr val="183B55"/>
                </a:solidFill>
                <a:latin typeface="Microsoft YaHei" panose="020B0503020204020204" charset="-122"/>
                <a:ea typeface="微软雅黑" panose="020B0503020204020204" charset="-122"/>
              </a:rPr>
              <a:t>敏感性分析和消融实验</a:t>
            </a:r>
            <a:endParaRPr lang="zh-CN" sz="2100" b="1">
              <a:solidFill>
                <a:srgbClr val="082F7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713232" y="941832"/>
            <a:ext cx="10698480" cy="24688"/>
          </a:xfrm>
          <a:prstGeom prst="rect">
            <a:avLst/>
          </a:prstGeom>
          <a:solidFill>
            <a:srgbClr val="5F8C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11311128" y="6584506"/>
            <a:ext cx="502920" cy="172085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0717D"/>
                </a:solidFill>
                <a:latin typeface="Microsoft YaHei" panose="020B0503020204020204" charset="-122"/>
                <a:ea typeface="微软雅黑" panose="020B0503020204020204" charset="-122"/>
              </a:rPr>
              <a:t>1</a:t>
            </a:r>
            <a:r>
              <a:rPr lang="en-US" sz="900" b="0">
                <a:solidFill>
                  <a:srgbClr val="60717D"/>
                </a:solidFill>
                <a:latin typeface="Microsoft YaHei" panose="020B0503020204020204" charset="-122"/>
                <a:ea typeface="微软雅黑" panose="020B0503020204020204" charset="-122"/>
              </a:rPr>
              <a:t>8</a:t>
            </a:r>
            <a:endParaRPr lang="en-US" sz="900" b="0">
              <a:solidFill>
                <a:srgbClr val="65758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18" name="图片 17" descr="sensitivity_semantic_l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5652" y="1141095"/>
            <a:ext cx="5668645" cy="1754505"/>
          </a:xfrm>
          <a:prstGeom prst="rect">
            <a:avLst/>
          </a:prstGeom>
        </p:spPr>
      </p:pic>
      <p:sp>
        <p:nvSpPr>
          <p:cNvPr id="20" name="文本框 19"/>
          <p:cNvSpPr txBox="1"/>
          <p:nvPr/>
        </p:nvSpPr>
        <p:spPr>
          <a:xfrm>
            <a:off x="2857246" y="3070225"/>
            <a:ext cx="5598826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>
              <a:spcBef>
                <a:spcPts val="0"/>
              </a:spcBef>
              <a:spcAft>
                <a:spcPts val="0"/>
              </a:spcAft>
            </a:pPr>
            <a:r>
              <a:rPr lang="zh-CN" altLang="en-US" sz="1400">
                <a:solidFill/>
                <a:latin typeface="Microsoft YaHei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</a:t>
            </a:r>
            <a:r>
              <a:rPr lang="en-US" altLang="zh-CN" sz="1400">
                <a:solidFill/>
                <a:latin typeface="Microsoft YaHei" panose="020B0503020204020204" charset="-122"/>
                <a:ea typeface="微软雅黑" panose="020B0503020204020204" charset="-122"/>
                <a:cs typeface="微软雅黑" panose="020B0503020204020204" charset="-122"/>
              </a:rPr>
              <a:t>0.0001~0.001</a:t>
            </a:r>
            <a:r>
              <a:rPr lang="zh-CN" altLang="en-US" sz="1400">
                <a:solidFill/>
                <a:latin typeface="Microsoft YaHei" panose="020B0503020204020204" charset="-122"/>
                <a:ea typeface="微软雅黑" panose="020B0503020204020204" charset="-122"/>
                <a:cs typeface="微软雅黑" panose="020B0503020204020204" charset="-122"/>
              </a:rPr>
              <a:t>范围内，学习率在三个数据集上的影响</a:t>
            </a:r>
            <a:endParaRPr lang="zh-CN" altLang="en-US" sz="14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21" name="图片 20" descr="学术方法对比指标表"/>
          <p:cNvPicPr>
            <a:picLocks noChangeAspect="1"/>
          </p:cNvPicPr>
          <p:nvPr/>
        </p:nvPicPr>
        <p:blipFill>
          <a:blip r:embed="rId3"/>
          <a:srcRect t="23296" b="24000"/>
          <a:stretch>
            <a:fillRect/>
          </a:stretch>
        </p:blipFill>
        <p:spPr>
          <a:xfrm>
            <a:off x="2345340" y="3606165"/>
            <a:ext cx="5942965" cy="2349500"/>
          </a:xfrm>
          <a:prstGeom prst="rect">
            <a:avLst/>
          </a:prstGeom>
        </p:spPr>
      </p:pic>
      <p:sp>
        <p:nvSpPr>
          <p:cNvPr id="22" name="文本框 21"/>
          <p:cNvSpPr txBox="1"/>
          <p:nvPr/>
        </p:nvSpPr>
        <p:spPr>
          <a:xfrm>
            <a:off x="2450496" y="6043295"/>
            <a:ext cx="6729253" cy="7372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>
              <a:spcBef>
                <a:spcPts val="0"/>
              </a:spcBef>
              <a:spcAft>
                <a:spcPts val="0"/>
              </a:spcAft>
            </a:pPr>
            <a:r>
              <a:rPr lang="zh-CN" altLang="en-US" sz="1400">
                <a:solidFill/>
                <a:latin typeface="Microsoft YaHei" panose="020B0503020204020204" charset="-122"/>
                <a:ea typeface="微软雅黑" panose="020B0503020204020204" charset="-122"/>
              </a:rPr>
              <a:t>在三个数据集上进行消融研究，均匀化信息效用、打乱跨视图效用的对应关系以及打乱软语义关系目标对应关系，结果表明，效用权重的差异化和正确的语义关系对应均对聚类性能有积极作用。</a:t>
            </a:r>
            <a:endParaRPr lang="zh-CN" altLang="en-US" sz="1400"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88952" cy="347472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749808" y="59436"/>
            <a:ext cx="2194560" cy="22860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0717D"/>
                </a:solidFill>
                <a:latin typeface="Microsoft YaHei" panose="020B0503020204020204" charset="-122"/>
                <a:ea typeface="微软雅黑" panose="020B0503020204020204" charset="-122"/>
              </a:rPr>
              <a:t>研究背景及意义</a:t>
            </a:r>
            <a:endParaRPr sz="1280" b="0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320040" y="1636776"/>
            <a:ext cx="1490472" cy="0"/>
          </a:xfrm>
          <a:prstGeom prst="line">
            <a:avLst/>
          </a:prstGeom>
          <a:ln w="8255">
            <a:noFill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236976" y="59436"/>
            <a:ext cx="2194560" cy="22860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0717D"/>
                </a:solidFill>
                <a:latin typeface="Microsoft YaHei" panose="020B0503020204020204" charset="-122"/>
                <a:ea typeface="微软雅黑" panose="020B0503020204020204" charset="-122"/>
              </a:rPr>
              <a:t>研究问题与思路</a:t>
            </a:r>
            <a:endParaRPr sz="1280" b="0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320040" y="2359152"/>
            <a:ext cx="1490472" cy="0"/>
          </a:xfrm>
          <a:prstGeom prst="line">
            <a:avLst/>
          </a:prstGeom>
          <a:ln w="8255">
            <a:noFill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724144" y="59436"/>
            <a:ext cx="2194560" cy="22860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0717D"/>
                </a:solidFill>
                <a:latin typeface="Microsoft YaHei" panose="020B0503020204020204" charset="-122"/>
                <a:ea typeface="微软雅黑" panose="020B0503020204020204" charset="-122"/>
              </a:rPr>
              <a:t>研究方法与技术路线</a:t>
            </a:r>
            <a:endParaRPr sz="1280" b="0">
              <a:solidFill>
                <a:srgbClr val="21324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9" name="Connector 8"/>
          <p:cNvCxnSpPr/>
          <p:nvPr/>
        </p:nvCxnSpPr>
        <p:spPr>
          <a:xfrm>
            <a:off x="320040" y="3081528"/>
            <a:ext cx="1490472" cy="0"/>
          </a:xfrm>
          <a:prstGeom prst="line">
            <a:avLst/>
          </a:prstGeom>
          <a:ln w="8255">
            <a:noFill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375904" y="310896"/>
            <a:ext cx="2057400" cy="32004"/>
          </a:xfrm>
          <a:prstGeom prst="rect">
            <a:avLst/>
          </a:prstGeom>
          <a:solidFill>
            <a:srgbClr val="5F8C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211312" y="59436"/>
            <a:ext cx="2194560" cy="22860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83B55"/>
                </a:solidFill>
                <a:latin typeface="Microsoft YaHei" panose="020B0503020204020204" charset="-122"/>
                <a:ea typeface="微软雅黑" panose="020B0503020204020204" charset="-122"/>
              </a:rPr>
              <a:t>实验设计与计划</a:t>
            </a:r>
            <a:endParaRPr sz="1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13" name="Picture 12" descr="logo_src_1_2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0" y="5961888"/>
            <a:ext cx="594360" cy="5943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13232" y="475488"/>
            <a:ext cx="10789920" cy="475488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83B55"/>
                </a:solidFill>
                <a:latin typeface="Microsoft YaHei" panose="020B0503020204020204" charset="-122"/>
                <a:ea typeface="微软雅黑" panose="020B0503020204020204" charset="-122"/>
              </a:rPr>
              <a:t>4.3 研究</a:t>
            </a:r>
            <a:r>
              <a:rPr lang="zh-CN" sz="2200" b="1">
                <a:solidFill>
                  <a:srgbClr val="183B55"/>
                </a:solidFill>
                <a:latin typeface="Microsoft YaHei" panose="020B0503020204020204" charset="-122"/>
                <a:ea typeface="微软雅黑" panose="020B0503020204020204" charset="-122"/>
              </a:rPr>
              <a:t>计划</a:t>
            </a:r>
            <a:endParaRPr lang="zh-CN" sz="2100" b="1">
              <a:solidFill>
                <a:srgbClr val="082F7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713232" y="941832"/>
            <a:ext cx="10698480" cy="24688"/>
          </a:xfrm>
          <a:prstGeom prst="rect">
            <a:avLst/>
          </a:prstGeom>
          <a:solidFill>
            <a:srgbClr val="5F8C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11311128" y="6584506"/>
            <a:ext cx="502920" cy="172085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b="0">
                <a:solidFill>
                  <a:srgbClr val="60717D"/>
                </a:solidFill>
                <a:latin typeface="Microsoft YaHei" panose="020B0503020204020204" charset="-122"/>
                <a:ea typeface="微软雅黑" panose="020B0503020204020204" charset="-122"/>
              </a:rPr>
              <a:t>19</a:t>
            </a:r>
            <a:endParaRPr lang="en-US" sz="900" b="0">
              <a:solidFill>
                <a:srgbClr val="65758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aphicFrame>
        <p:nvGraphicFramePr>
          <p:cNvPr id="43" name="powerpoint template design by DAJU_PPT正版来源小红书大橘PPT微信DAJU_PPT请勿抄袭搬运！盗版必究！"/>
          <p:cNvGraphicFramePr>
            <a:graphicFrameLocks noGrp="1"/>
          </p:cNvGraphicFramePr>
          <p:nvPr>
            <p:custDataLst>
              <p:tags r:id="rId2"/>
            </p:custDataLst>
          </p:nvPr>
        </p:nvGraphicFramePr>
        <p:xfrm>
          <a:off x="1815179" y="1370965"/>
          <a:ext cx="8427815" cy="500316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42845"/>
                <a:gridCol w="2442845"/>
                <a:gridCol w="2442845"/>
              </a:tblGrid>
              <a:tr h="594360">
                <a:tc>
                  <a:txBody>
                    <a:bodyPr/>
                    <a:p>
                      <a:pPr algn="ctr"/>
                      <a:r>
                        <a:rPr lang="zh-CN" altLang="en-US" sz="1800" b="1" dirty="0">
                          <a:solidFill>
                            <a:srgbClr val="183B55"/>
                          </a:solidFill>
                          <a:latin typeface="Microsoft YaHei"/>
                          <a:ea typeface="+mj-ea"/>
                          <a:cs typeface="Arial" panose="020B0604020202020204" pitchFamily="34" charset="0"/>
                        </a:rPr>
                        <a:t>论文工作计划</a:t>
                      </a:r>
                      <a:endParaRPr lang="zh-CN" altLang="en-US" sz="1800" b="1" dirty="0">
                        <a:solidFill>
                          <a:schemeClr val="bg1"/>
                        </a:solidFill>
                        <a:latin typeface="+mj-ea"/>
                        <a:ea typeface="+mj-ea"/>
                        <a:cs typeface="Arial" panose="020B0604020202020204" pitchFamily="34" charset="0"/>
                      </a:endParaRPr>
                    </a:p>
                  </a:txBody>
                  <a:tcPr marL="45703" marR="45703" marT="22860" marB="22860" anchor="ctr">
                    <a:lnL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2"/>
                    </a:solidFill>
                  </a:tcPr>
                </a:tc>
                <a:tc>
                  <a:txBody>
                    <a:bodyPr/>
                    <a:p>
                      <a:pPr algn="ctr"/>
                      <a:r>
                        <a:rPr lang="zh-CN" altLang="en-US" sz="1800" b="1" kern="1200" dirty="0">
                          <a:solidFill>
                            <a:srgbClr val="183B55"/>
                          </a:solidFill>
                          <a:latin typeface="Microsoft YaHei"/>
                          <a:ea typeface="+mn-ea"/>
                          <a:cs typeface="Arial" panose="020B0604020202020204" pitchFamily="34" charset="0"/>
                        </a:rPr>
                        <a:t>起止日期</a:t>
                      </a:r>
                      <a:endParaRPr lang="zh-CN" altLang="en-US" sz="1800" b="1" kern="1200" dirty="0">
                        <a:solidFill>
                          <a:schemeClr val="bg1"/>
                        </a:solidFill>
                        <a:latin typeface="+mj-ea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45703" marR="45703" marT="22860" marB="22860" anchor="ctr">
                    <a:lnL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2"/>
                    </a:solidFill>
                  </a:tcPr>
                </a:tc>
                <a:tc>
                  <a:txBody>
                    <a:bodyPr/>
                    <a:p>
                      <a:pPr marL="0" marR="0" lvl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800" b="1" i="0" u="none" strike="noStrike" kern="1200" cap="none" spc="0" normalizeH="0" baseline="0" dirty="0">
                          <a:solidFill>
                            <a:srgbClr val="183B55"/>
                          </a:solidFill>
                          <a:latin typeface="Microsoft YaHei"/>
                          <a:ea typeface="+mj-ea"/>
                          <a:cs typeface="Arial" panose="020B0604020202020204" pitchFamily="34" charset="0"/>
                        </a:rPr>
                        <a:t>阶段工作内容及计划完成的指标</a:t>
                      </a:r>
                      <a:endParaRPr kumimoji="0" lang="zh-CN" altLang="en-US" sz="1800" b="1" i="0" u="none" strike="noStrike" kern="1200" cap="none" spc="0" normalizeH="0" baseline="0" dirty="0">
                        <a:solidFill>
                          <a:schemeClr val="bg1"/>
                        </a:solidFill>
                        <a:latin typeface="+mj-ea"/>
                        <a:ea typeface="+mj-ea"/>
                        <a:cs typeface="Arial" panose="020B0604020202020204" pitchFamily="34" charset="0"/>
                      </a:endParaRPr>
                    </a:p>
                  </a:txBody>
                  <a:tcPr marL="45703" marR="45703" marT="22860" marB="22860" anchor="ctr">
                    <a:lnL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2"/>
                    </a:solidFill>
                  </a:tcPr>
                </a:tc>
              </a:tr>
              <a:tr h="400050"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zh-CN" alt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53646"/>
                          </a:solidFill>
                          <a:effectLst/>
                          <a:uLnTx/>
                          <a:uFillTx/>
                          <a:latin typeface="Microsoft YaHei" panose="020B0503020204020204" charset="-122"/>
                          <a:ea typeface="微软雅黑" panose="020B0503020204020204" charset="-122"/>
                          <a:cs typeface="Arial" panose="020B0604020202020204" pitchFamily="34" charset="0"/>
                        </a:rPr>
                        <a:t>论文准备阶段</a:t>
                      </a:r>
                      <a:endParaRPr kumimoji="0" lang="zh-CN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微软雅黑" panose="020B0503020204020204" charset="-122"/>
                        <a:ea typeface="微软雅黑" panose="020B0503020204020204" charset="-122"/>
                        <a:cs typeface="Arial" panose="020B0604020202020204" pitchFamily="34" charset="0"/>
                      </a:endParaRPr>
                    </a:p>
                  </a:txBody>
                  <a:tcPr marL="45703" marR="45703" marT="22860" marB="22860" anchor="ctr">
                    <a:lnL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en-US" altLang="zh-CN" sz="16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253646"/>
                          </a:solidFill>
                          <a:effectLst/>
                          <a:uLnTx/>
                          <a:uFillTx/>
                          <a:latin typeface="Microsoft YaHei" panose="020B0503020204020204" charset="-122"/>
                          <a:ea typeface="微软雅黑" panose="020B0503020204020204" charset="-122"/>
                          <a:cs typeface="Arial" panose="020B0604020202020204" pitchFamily="34" charset="0"/>
                        </a:rPr>
                        <a:t>2025.09-2026.01</a:t>
                      </a:r>
                      <a:endParaRPr kumimoji="0" lang="zh-CN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微软雅黑" panose="020B0503020204020204" charset="-122"/>
                        <a:ea typeface="微软雅黑" panose="020B0503020204020204" charset="-122"/>
                        <a:cs typeface="Arial" panose="020B0604020202020204" pitchFamily="34" charset="0"/>
                      </a:endParaRPr>
                    </a:p>
                  </a:txBody>
                  <a:tcPr marL="45703" marR="45703" marT="22860" marB="22860" anchor="ctr">
                    <a:lnL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zh-CN" alt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53646"/>
                          </a:solidFill>
                          <a:effectLst/>
                          <a:uLnTx/>
                          <a:uFillTx/>
                          <a:latin typeface="Microsoft YaHei" panose="020B0503020204020204" charset="-122"/>
                          <a:ea typeface="微软雅黑" panose="020B0503020204020204" charset="-122"/>
                          <a:cs typeface="Arial" panose="020B0604020202020204" pitchFamily="34" charset="0"/>
                        </a:rPr>
                        <a:t>阅读文献</a:t>
                      </a:r>
                      <a:endParaRPr kumimoji="0" lang="zh-CN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微软雅黑" panose="020B0503020204020204" charset="-122"/>
                        <a:ea typeface="微软雅黑" panose="020B0503020204020204" charset="-122"/>
                        <a:cs typeface="Arial" panose="020B0604020202020204" pitchFamily="34" charset="0"/>
                      </a:endParaRPr>
                    </a:p>
                  </a:txBody>
                  <a:tcPr marL="45703" marR="45703" marT="22860" marB="22860" anchor="ctr">
                    <a:lnL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685"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zh-CN" alt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53646"/>
                          </a:solidFill>
                          <a:effectLst/>
                          <a:uLnTx/>
                          <a:uFillTx/>
                          <a:latin typeface="Microsoft YaHei" panose="020B0503020204020204" charset="-122"/>
                          <a:ea typeface="微软雅黑" panose="020B0503020204020204" charset="-122"/>
                          <a:cs typeface="Arial" panose="020B0604020202020204" pitchFamily="34" charset="0"/>
                        </a:rPr>
                        <a:t>选题</a:t>
                      </a:r>
                      <a:endParaRPr kumimoji="0" lang="zh-CN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微软雅黑" panose="020B0503020204020204" charset="-122"/>
                        <a:ea typeface="微软雅黑" panose="020B0503020204020204" charset="-122"/>
                        <a:cs typeface="Arial" panose="020B0604020202020204" pitchFamily="34" charset="0"/>
                      </a:endParaRPr>
                    </a:p>
                  </a:txBody>
                  <a:tcPr marL="45703" marR="45703" marT="22860" marB="22860" anchor="ctr">
                    <a:lnL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en-US" altLang="zh-CN" sz="16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253646"/>
                          </a:solidFill>
                          <a:effectLst/>
                          <a:uLnTx/>
                          <a:uFillTx/>
                          <a:latin typeface="Microsoft YaHei" panose="020B0503020204020204" charset="-122"/>
                          <a:ea typeface="微软雅黑" panose="020B0503020204020204" charset="-122"/>
                          <a:cs typeface="Arial" panose="020B0604020202020204" pitchFamily="34" charset="0"/>
                        </a:rPr>
                        <a:t>2025.09-2026.01</a:t>
                      </a:r>
                      <a:endParaRPr kumimoji="0" lang="zh-CN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微软雅黑" panose="020B0503020204020204" charset="-122"/>
                        <a:ea typeface="微软雅黑" panose="020B0503020204020204" charset="-122"/>
                        <a:cs typeface="Arial" panose="020B0604020202020204" pitchFamily="34" charset="0"/>
                      </a:endParaRPr>
                    </a:p>
                  </a:txBody>
                  <a:tcPr marL="45703" marR="45703" marT="22860" marB="22860" anchor="ctr">
                    <a:lnL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zh-CN" alt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53646"/>
                          </a:solidFill>
                          <a:effectLst/>
                          <a:uLnTx/>
                          <a:uFillTx/>
                          <a:latin typeface="Microsoft YaHei" panose="020B0503020204020204" charset="-122"/>
                          <a:ea typeface="微软雅黑" panose="020B0503020204020204" charset="-122"/>
                          <a:cs typeface="Arial" panose="020B0604020202020204" pitchFamily="34" charset="0"/>
                        </a:rPr>
                        <a:t>查看资料，确定研究课题</a:t>
                      </a:r>
                      <a:endParaRPr kumimoji="0" lang="zh-CN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微软雅黑" panose="020B0503020204020204" charset="-122"/>
                        <a:ea typeface="微软雅黑" panose="020B0503020204020204" charset="-122"/>
                        <a:cs typeface="Arial" panose="020B0604020202020204" pitchFamily="34" charset="0"/>
                      </a:endParaRPr>
                    </a:p>
                  </a:txBody>
                  <a:tcPr marL="45703" marR="45703" marT="22860" marB="22860" anchor="ctr">
                    <a:lnL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401320"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zh-CN" alt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53646"/>
                          </a:solidFill>
                          <a:effectLst/>
                          <a:uLnTx/>
                          <a:uFillTx/>
                          <a:latin typeface="Microsoft YaHei" panose="020B0503020204020204" charset="-122"/>
                          <a:ea typeface="微软雅黑" panose="020B0503020204020204" charset="-122"/>
                          <a:cs typeface="Arial" panose="020B0604020202020204" pitchFamily="34" charset="0"/>
                        </a:rPr>
                        <a:t>论文实验研究</a:t>
                      </a:r>
                      <a:endParaRPr kumimoji="0" lang="zh-CN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微软雅黑" panose="020B0503020204020204" charset="-122"/>
                        <a:ea typeface="微软雅黑" panose="020B0503020204020204" charset="-122"/>
                        <a:cs typeface="Arial" panose="020B0604020202020204" pitchFamily="34" charset="0"/>
                      </a:endParaRPr>
                    </a:p>
                  </a:txBody>
                  <a:tcPr marL="45703" marR="45703" marT="22860" marB="22860" anchor="ctr">
                    <a:lnL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en-US" altLang="zh-CN" sz="16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253646"/>
                          </a:solidFill>
                          <a:effectLst/>
                          <a:uLnTx/>
                          <a:uFillTx/>
                          <a:latin typeface="Microsoft YaHei" panose="020B0503020204020204" charset="-122"/>
                          <a:ea typeface="微软雅黑" panose="020B0503020204020204" charset="-122"/>
                          <a:cs typeface="Arial" panose="020B0604020202020204" pitchFamily="34" charset="0"/>
                        </a:rPr>
                        <a:t>2026.02-2026.09</a:t>
                      </a:r>
                      <a:endParaRPr kumimoji="0" lang="zh-CN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微软雅黑" panose="020B0503020204020204" charset="-122"/>
                        <a:ea typeface="微软雅黑" panose="020B0503020204020204" charset="-122"/>
                        <a:cs typeface="Arial" panose="020B0604020202020204" pitchFamily="34" charset="0"/>
                      </a:endParaRPr>
                    </a:p>
                  </a:txBody>
                  <a:tcPr marL="45703" marR="45703" marT="22860" marB="22860" anchor="ctr">
                    <a:lnL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zh-CN" alt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53646"/>
                          </a:solidFill>
                          <a:effectLst/>
                          <a:uLnTx/>
                          <a:uFillTx/>
                          <a:latin typeface="Microsoft YaHei" panose="020B0503020204020204" charset="-122"/>
                          <a:ea typeface="微软雅黑" panose="020B0503020204020204" charset="-122"/>
                          <a:cs typeface="Arial" panose="020B0604020202020204" pitchFamily="34" charset="0"/>
                        </a:rPr>
                        <a:t>验证创新点</a:t>
                      </a:r>
                      <a:endParaRPr kumimoji="0" lang="zh-CN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微软雅黑" panose="020B0503020204020204" charset="-122"/>
                        <a:ea typeface="微软雅黑" panose="020B0503020204020204" charset="-122"/>
                        <a:cs typeface="Arial" panose="020B0604020202020204" pitchFamily="34" charset="0"/>
                      </a:endParaRPr>
                    </a:p>
                  </a:txBody>
                  <a:tcPr marL="45703" marR="45703" marT="22860" marB="22860" anchor="ctr">
                    <a:lnL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685"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zh-CN" alt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53646"/>
                          </a:solidFill>
                          <a:effectLst/>
                          <a:uLnTx/>
                          <a:uFillTx/>
                          <a:latin typeface="Microsoft YaHei" panose="020B0503020204020204" charset="-122"/>
                          <a:ea typeface="微软雅黑" panose="020B0503020204020204" charset="-122"/>
                          <a:cs typeface="Arial" panose="020B0604020202020204" pitchFamily="34" charset="0"/>
                        </a:rPr>
                        <a:t>开题报告</a:t>
                      </a:r>
                      <a:endParaRPr kumimoji="0" lang="zh-CN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微软雅黑" panose="020B0503020204020204" charset="-122"/>
                        <a:ea typeface="微软雅黑" panose="020B0503020204020204" charset="-122"/>
                        <a:cs typeface="Arial" panose="020B0604020202020204" pitchFamily="34" charset="0"/>
                      </a:endParaRPr>
                    </a:p>
                  </a:txBody>
                  <a:tcPr marL="45703" marR="45703" marT="22860" marB="22860" anchor="ctr">
                    <a:lnL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en-US" altLang="zh-CN" sz="16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253646"/>
                          </a:solidFill>
                          <a:effectLst/>
                          <a:uLnTx/>
                          <a:uFillTx/>
                          <a:latin typeface="Microsoft YaHei" panose="020B0503020204020204" charset="-122"/>
                          <a:ea typeface="微软雅黑" panose="020B0503020204020204" charset="-122"/>
                          <a:cs typeface="Arial" panose="020B0604020202020204" pitchFamily="34" charset="0"/>
                        </a:rPr>
                        <a:t>2026.10.30</a:t>
                      </a:r>
                      <a:endParaRPr kumimoji="0" lang="zh-CN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微软雅黑" panose="020B0503020204020204" charset="-122"/>
                        <a:ea typeface="微软雅黑" panose="020B0503020204020204" charset="-122"/>
                        <a:cs typeface="Arial" panose="020B0604020202020204" pitchFamily="34" charset="0"/>
                      </a:endParaRPr>
                    </a:p>
                  </a:txBody>
                  <a:tcPr marL="45703" marR="45703" marT="22860" marB="22860" anchor="ctr">
                    <a:lnL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zh-CN" alt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53646"/>
                          </a:solidFill>
                          <a:effectLst/>
                          <a:uLnTx/>
                          <a:uFillTx/>
                          <a:latin typeface="Microsoft YaHei" panose="020B0503020204020204" charset="-122"/>
                          <a:ea typeface="微软雅黑" panose="020B0503020204020204" charset="-122"/>
                          <a:cs typeface="Arial" panose="020B0604020202020204" pitchFamily="34" charset="0"/>
                        </a:rPr>
                        <a:t>准备好开题报告内容</a:t>
                      </a:r>
                      <a:endParaRPr kumimoji="0" lang="zh-CN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微软雅黑" panose="020B0503020204020204" charset="-122"/>
                        <a:ea typeface="微软雅黑" panose="020B0503020204020204" charset="-122"/>
                        <a:cs typeface="Arial" panose="020B0604020202020204" pitchFamily="34" charset="0"/>
                      </a:endParaRPr>
                    </a:p>
                  </a:txBody>
                  <a:tcPr marL="45703" marR="45703" marT="22860" marB="22860" anchor="ctr">
                    <a:lnL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401955"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zh-CN" alt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53646"/>
                          </a:solidFill>
                          <a:effectLst/>
                          <a:uLnTx/>
                          <a:uFillTx/>
                          <a:latin typeface="Microsoft YaHei" panose="020B0503020204020204" charset="-122"/>
                          <a:ea typeface="微软雅黑" panose="020B0503020204020204" charset="-122"/>
                          <a:cs typeface="Arial" panose="020B0604020202020204" pitchFamily="34" charset="0"/>
                        </a:rPr>
                        <a:t>做实验及小论文初稿</a:t>
                      </a:r>
                      <a:endParaRPr kumimoji="0" lang="zh-CN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微软雅黑" panose="020B0503020204020204" charset="-122"/>
                        <a:ea typeface="微软雅黑" panose="020B0503020204020204" charset="-122"/>
                        <a:cs typeface="Arial" panose="020B0604020202020204" pitchFamily="34" charset="0"/>
                      </a:endParaRPr>
                    </a:p>
                  </a:txBody>
                  <a:tcPr marL="45703" marR="45703" marT="22860" marB="22860" anchor="ctr">
                    <a:lnL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en-US" altLang="zh-CN" sz="16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253646"/>
                          </a:solidFill>
                          <a:effectLst/>
                          <a:uLnTx/>
                          <a:uFillTx/>
                          <a:latin typeface="Microsoft YaHei" panose="020B0503020204020204" charset="-122"/>
                          <a:ea typeface="微软雅黑" panose="020B0503020204020204" charset="-122"/>
                          <a:cs typeface="Arial" panose="020B0604020202020204" pitchFamily="34" charset="0"/>
                        </a:rPr>
                        <a:t>2026.02-2026.10</a:t>
                      </a:r>
                      <a:endParaRPr kumimoji="0" lang="zh-CN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微软雅黑" panose="020B0503020204020204" charset="-122"/>
                        <a:ea typeface="微软雅黑" panose="020B0503020204020204" charset="-122"/>
                        <a:cs typeface="Arial" panose="020B0604020202020204" pitchFamily="34" charset="0"/>
                      </a:endParaRPr>
                    </a:p>
                  </a:txBody>
                  <a:tcPr marL="45703" marR="45703" marT="22860" marB="22860" anchor="ctr">
                    <a:lnL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zh-CN" altLang="zh-CN" sz="16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253646"/>
                          </a:solidFill>
                          <a:effectLst/>
                          <a:uLnTx/>
                          <a:uFillTx/>
                          <a:latin typeface="Microsoft YaHei" panose="020B0503020204020204" charset="-122"/>
                          <a:ea typeface="微软雅黑" panose="020B0503020204020204" charset="-122"/>
                          <a:cs typeface="Arial" panose="020B0604020202020204" pitchFamily="34" charset="0"/>
                        </a:rPr>
                        <a:t>实验已完成小论文在写</a:t>
                      </a:r>
                      <a:endParaRPr kumimoji="0" lang="zh-CN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微软雅黑" panose="020B0503020204020204" charset="-122"/>
                        <a:ea typeface="微软雅黑" panose="020B0503020204020204" charset="-122"/>
                        <a:cs typeface="Arial" panose="020B0604020202020204" pitchFamily="34" charset="0"/>
                      </a:endParaRPr>
                    </a:p>
                  </a:txBody>
                  <a:tcPr marL="45703" marR="45703" marT="22860" marB="22860" anchor="ctr">
                    <a:lnL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9415"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zh-CN" altLang="en-US" sz="160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53646"/>
                          </a:solidFill>
                          <a:effectLst/>
                          <a:uLnTx/>
                          <a:uFillTx/>
                          <a:latin typeface="Microsoft YaHei" panose="020B0503020204020204" charset="-122"/>
                          <a:ea typeface="微软雅黑" panose="020B0503020204020204" charset="-122"/>
                          <a:cs typeface="Arial" panose="020B0604020202020204" pitchFamily="34" charset="0"/>
                        </a:rPr>
                        <a:t>论文投稿修正</a:t>
                      </a:r>
                      <a:endParaRPr kumimoji="0" lang="zh-CN" altLang="en-US" sz="160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微软雅黑" panose="020B0503020204020204" charset="-122"/>
                        <a:ea typeface="微软雅黑" panose="020B0503020204020204" charset="-122"/>
                        <a:cs typeface="Arial" panose="020B0604020202020204" pitchFamily="34" charset="0"/>
                      </a:endParaRPr>
                    </a:p>
                  </a:txBody>
                  <a:tcPr marL="45703" marR="45703" marT="22860" marB="22860" anchor="ctr">
                    <a:lnL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en-US" altLang="zh-CN" sz="16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253646"/>
                          </a:solidFill>
                          <a:effectLst/>
                          <a:uLnTx/>
                          <a:uFillTx/>
                          <a:latin typeface="Microsoft YaHei" panose="020B0503020204020204" charset="-122"/>
                          <a:ea typeface="微软雅黑" panose="020B0503020204020204" charset="-122"/>
                          <a:cs typeface="Arial" panose="020B0604020202020204" pitchFamily="34" charset="0"/>
                        </a:rPr>
                        <a:t>2026.11-2027.02</a:t>
                      </a:r>
                      <a:endParaRPr kumimoji="0" lang="zh-CN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微软雅黑" panose="020B0503020204020204" charset="-122"/>
                        <a:ea typeface="微软雅黑" panose="020B0503020204020204" charset="-122"/>
                        <a:cs typeface="Arial" panose="020B0604020202020204" pitchFamily="34" charset="0"/>
                      </a:endParaRPr>
                    </a:p>
                  </a:txBody>
                  <a:tcPr marL="45703" marR="45703" marT="22860" marB="22860" anchor="ctr">
                    <a:lnL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zh-CN" altLang="en-US" sz="160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53646"/>
                          </a:solidFill>
                          <a:effectLst/>
                          <a:uLnTx/>
                          <a:uFillTx/>
                          <a:latin typeface="Microsoft YaHei" panose="020B0503020204020204" charset="-122"/>
                          <a:ea typeface="微软雅黑" panose="020B0503020204020204" charset="-122"/>
                          <a:cs typeface="Arial" panose="020B0604020202020204" pitchFamily="34" charset="0"/>
                        </a:rPr>
                        <a:t>待进行</a:t>
                      </a:r>
                      <a:endParaRPr kumimoji="0" lang="zh-CN" altLang="en-US" sz="160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微软雅黑" panose="020B0503020204020204" charset="-122"/>
                        <a:ea typeface="微软雅黑" panose="020B0503020204020204" charset="-122"/>
                        <a:cs typeface="Arial" panose="020B0604020202020204" pitchFamily="34" charset="0"/>
                      </a:endParaRPr>
                    </a:p>
                  </a:txBody>
                  <a:tcPr marL="45703" marR="45703" marT="22860" marB="22860" anchor="ctr">
                    <a:lnL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400685"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zh-CN" altLang="en-US" sz="160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53646"/>
                          </a:solidFill>
                          <a:effectLst/>
                          <a:uLnTx/>
                          <a:uFillTx/>
                          <a:latin typeface="Microsoft YaHei" panose="020B0503020204020204" charset="-122"/>
                          <a:ea typeface="微软雅黑" panose="020B0503020204020204" charset="-122"/>
                          <a:cs typeface="Arial" panose="020B0604020202020204" pitchFamily="34" charset="0"/>
                        </a:rPr>
                        <a:t>大论文初稿</a:t>
                      </a:r>
                      <a:endParaRPr kumimoji="0" lang="zh-CN" altLang="en-US" sz="160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微软雅黑" panose="020B0503020204020204" charset="-122"/>
                        <a:ea typeface="微软雅黑" panose="020B0503020204020204" charset="-122"/>
                        <a:cs typeface="Arial" panose="020B0604020202020204" pitchFamily="34" charset="0"/>
                      </a:endParaRPr>
                    </a:p>
                  </a:txBody>
                  <a:tcPr marL="45703" marR="45703" marT="22860" marB="22860" anchor="ctr">
                    <a:lnL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en-US" altLang="zh-CN" sz="16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253646"/>
                          </a:solidFill>
                          <a:effectLst/>
                          <a:uLnTx/>
                          <a:uFillTx/>
                          <a:latin typeface="Microsoft YaHei" panose="020B0503020204020204" charset="-122"/>
                          <a:ea typeface="微软雅黑" panose="020B0503020204020204" charset="-122"/>
                          <a:cs typeface="Arial" panose="020B0604020202020204" pitchFamily="34" charset="0"/>
                        </a:rPr>
                        <a:t>2027.05-2027.09</a:t>
                      </a:r>
                      <a:endParaRPr kumimoji="0" lang="zh-CN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微软雅黑" panose="020B0503020204020204" charset="-122"/>
                        <a:ea typeface="微软雅黑" panose="020B0503020204020204" charset="-122"/>
                        <a:cs typeface="Arial" panose="020B0604020202020204" pitchFamily="34" charset="0"/>
                      </a:endParaRPr>
                    </a:p>
                  </a:txBody>
                  <a:tcPr marL="45703" marR="45703" marT="22860" marB="22860" anchor="ctr">
                    <a:lnL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zh-CN" altLang="en-US" sz="160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53646"/>
                          </a:solidFill>
                          <a:effectLst/>
                          <a:uLnTx/>
                          <a:uFillTx/>
                          <a:latin typeface="Microsoft YaHei" panose="020B0503020204020204" charset="-122"/>
                          <a:ea typeface="微软雅黑" panose="020B0503020204020204" charset="-122"/>
                          <a:cs typeface="Arial" panose="020B0604020202020204" pitchFamily="34" charset="0"/>
                        </a:rPr>
                        <a:t>待进行</a:t>
                      </a:r>
                      <a:endParaRPr kumimoji="0" lang="zh-CN" altLang="en-US" sz="160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微软雅黑" panose="020B0503020204020204" charset="-122"/>
                        <a:ea typeface="微软雅黑" panose="020B0503020204020204" charset="-122"/>
                        <a:cs typeface="Arial" panose="020B0604020202020204" pitchFamily="34" charset="0"/>
                      </a:endParaRPr>
                    </a:p>
                  </a:txBody>
                  <a:tcPr marL="45703" marR="45703" marT="22860" marB="22860" anchor="ctr">
                    <a:lnL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1320"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zh-CN" altLang="en-US" sz="160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53646"/>
                          </a:solidFill>
                          <a:effectLst/>
                          <a:uLnTx/>
                          <a:uFillTx/>
                          <a:latin typeface="Microsoft YaHei" panose="020B0503020204020204" charset="-122"/>
                          <a:ea typeface="微软雅黑" panose="020B0503020204020204" charset="-122"/>
                          <a:cs typeface="Arial" panose="020B0604020202020204" pitchFamily="34" charset="0"/>
                        </a:rPr>
                        <a:t>初稿修正</a:t>
                      </a:r>
                      <a:endParaRPr kumimoji="0" lang="zh-CN" altLang="en-US" sz="160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微软雅黑" panose="020B0503020204020204" charset="-122"/>
                        <a:ea typeface="微软雅黑" panose="020B0503020204020204" charset="-122"/>
                        <a:cs typeface="Arial" panose="020B0604020202020204" pitchFamily="34" charset="0"/>
                      </a:endParaRPr>
                    </a:p>
                  </a:txBody>
                  <a:tcPr marL="45703" marR="45703" marT="22860" marB="22860" anchor="ctr">
                    <a:lnL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en-US" altLang="zh-CN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53646"/>
                          </a:solidFill>
                          <a:effectLst/>
                          <a:uLnTx/>
                          <a:uFillTx/>
                          <a:latin typeface="Microsoft YaHei" panose="020B0503020204020204" charset="-122"/>
                          <a:ea typeface="微软雅黑" panose="020B0503020204020204" charset="-122"/>
                          <a:cs typeface="Arial" panose="020B0604020202020204" pitchFamily="34" charset="0"/>
                        </a:rPr>
                        <a:t>2027.10-2027.12</a:t>
                      </a:r>
                      <a:endParaRPr kumimoji="0" lang="en-US" altLang="zh-CN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微软雅黑" panose="020B0503020204020204" charset="-122"/>
                        <a:ea typeface="微软雅黑" panose="020B0503020204020204" charset="-122"/>
                        <a:cs typeface="Arial" panose="020B0604020202020204" pitchFamily="34" charset="0"/>
                      </a:endParaRPr>
                    </a:p>
                  </a:txBody>
                  <a:tcPr marL="45703" marR="45703" marT="22860" marB="22860" anchor="ctr">
                    <a:lnL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zh-CN" altLang="en-US" sz="160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53646"/>
                          </a:solidFill>
                          <a:effectLst/>
                          <a:uLnTx/>
                          <a:uFillTx/>
                          <a:latin typeface="Microsoft YaHei" panose="020B0503020204020204" charset="-122"/>
                          <a:ea typeface="微软雅黑" panose="020B0503020204020204" charset="-122"/>
                          <a:cs typeface="Arial" panose="020B0604020202020204" pitchFamily="34" charset="0"/>
                        </a:rPr>
                        <a:t>待进行</a:t>
                      </a:r>
                      <a:endParaRPr kumimoji="0" lang="zh-CN" altLang="en-US" sz="160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微软雅黑" panose="020B0503020204020204" charset="-122"/>
                        <a:ea typeface="微软雅黑" panose="020B0503020204020204" charset="-122"/>
                        <a:cs typeface="Arial" panose="020B0604020202020204" pitchFamily="34" charset="0"/>
                      </a:endParaRPr>
                    </a:p>
                  </a:txBody>
                  <a:tcPr marL="45703" marR="45703" marT="22860" marB="22860" anchor="ctr">
                    <a:lnL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401955"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zh-CN" altLang="en-US" sz="160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53646"/>
                          </a:solidFill>
                          <a:effectLst/>
                          <a:uLnTx/>
                          <a:uFillTx/>
                          <a:latin typeface="Microsoft YaHei" panose="020B0503020204020204" charset="-122"/>
                          <a:ea typeface="微软雅黑" panose="020B0503020204020204" charset="-122"/>
                          <a:cs typeface="Arial" panose="020B0604020202020204" pitchFamily="34" charset="0"/>
                        </a:rPr>
                        <a:t>定稿&amp;查重</a:t>
                      </a:r>
                      <a:endParaRPr kumimoji="0" lang="zh-CN" altLang="en-US" sz="160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微软雅黑" panose="020B0503020204020204" charset="-122"/>
                        <a:ea typeface="微软雅黑" panose="020B0503020204020204" charset="-122"/>
                        <a:cs typeface="Arial" panose="020B0604020202020204" pitchFamily="34" charset="0"/>
                      </a:endParaRPr>
                    </a:p>
                  </a:txBody>
                  <a:tcPr marL="45703" marR="45703" marT="22860" marB="22860" anchor="ctr">
                    <a:lnL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en-US" altLang="zh-CN" sz="16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253646"/>
                          </a:solidFill>
                          <a:effectLst/>
                          <a:uLnTx/>
                          <a:uFillTx/>
                          <a:latin typeface="Microsoft YaHei" panose="020B0503020204020204" charset="-122"/>
                          <a:ea typeface="微软雅黑" panose="020B0503020204020204" charset="-122"/>
                          <a:cs typeface="Arial" panose="020B0604020202020204" pitchFamily="34" charset="0"/>
                        </a:rPr>
                        <a:t>2028.05</a:t>
                      </a:r>
                      <a:endParaRPr kumimoji="0" lang="zh-CN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微软雅黑" panose="020B0503020204020204" charset="-122"/>
                        <a:ea typeface="微软雅黑" panose="020B0503020204020204" charset="-122"/>
                        <a:cs typeface="Arial" panose="020B0604020202020204" pitchFamily="34" charset="0"/>
                      </a:endParaRPr>
                    </a:p>
                  </a:txBody>
                  <a:tcPr marL="45703" marR="45703" marT="22860" marB="22860" anchor="ctr">
                    <a:lnL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zh-CN" altLang="en-US" sz="160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53646"/>
                          </a:solidFill>
                          <a:effectLst/>
                          <a:uLnTx/>
                          <a:uFillTx/>
                          <a:latin typeface="Microsoft YaHei" panose="020B0503020204020204" charset="-122"/>
                          <a:ea typeface="微软雅黑" panose="020B0503020204020204" charset="-122"/>
                          <a:cs typeface="Arial" panose="020B0604020202020204" pitchFamily="34" charset="0"/>
                        </a:rPr>
                        <a:t>待进行</a:t>
                      </a:r>
                      <a:endParaRPr kumimoji="0" lang="zh-CN" altLang="en-US" sz="160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微软雅黑" panose="020B0503020204020204" charset="-122"/>
                        <a:ea typeface="微软雅黑" panose="020B0503020204020204" charset="-122"/>
                        <a:cs typeface="Arial" panose="020B0604020202020204" pitchFamily="34" charset="0"/>
                      </a:endParaRPr>
                    </a:p>
                  </a:txBody>
                  <a:tcPr marL="45703" marR="45703" marT="22860" marB="22860" anchor="ctr">
                    <a:lnL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zh-CN" altLang="en-US" sz="160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53646"/>
                          </a:solidFill>
                          <a:effectLst/>
                          <a:uLnTx/>
                          <a:uFillTx/>
                          <a:latin typeface="Microsoft YaHei" panose="020B0503020204020204" charset="-122"/>
                          <a:ea typeface="微软雅黑" panose="020B0503020204020204" charset="-122"/>
                          <a:cs typeface="Arial" panose="020B0604020202020204" pitchFamily="34" charset="0"/>
                        </a:rPr>
                        <a:t>大论文毕业答辩</a:t>
                      </a:r>
                      <a:endParaRPr kumimoji="0" lang="zh-CN" altLang="en-US" sz="160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微软雅黑" panose="020B0503020204020204" charset="-122"/>
                        <a:ea typeface="微软雅黑" panose="020B0503020204020204" charset="-122"/>
                        <a:cs typeface="Arial" panose="020B0604020202020204" pitchFamily="34" charset="0"/>
                      </a:endParaRPr>
                    </a:p>
                  </a:txBody>
                  <a:tcPr marL="45703" marR="45703" marT="22860" marB="22860" anchor="ctr">
                    <a:lnL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en-US" altLang="zh-CN" sz="16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253646"/>
                          </a:solidFill>
                          <a:effectLst/>
                          <a:uLnTx/>
                          <a:uFillTx/>
                          <a:latin typeface="Microsoft YaHei" panose="020B0503020204020204" charset="-122"/>
                          <a:ea typeface="微软雅黑" panose="020B0503020204020204" charset="-122"/>
                          <a:cs typeface="Arial" panose="020B0604020202020204" pitchFamily="34" charset="0"/>
                        </a:rPr>
                        <a:t>2028.05</a:t>
                      </a:r>
                      <a:endParaRPr kumimoji="0" lang="zh-CN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微软雅黑" panose="020B0503020204020204" charset="-122"/>
                        <a:ea typeface="微软雅黑" panose="020B0503020204020204" charset="-122"/>
                        <a:cs typeface="Arial" panose="020B0604020202020204" pitchFamily="34" charset="0"/>
                      </a:endParaRPr>
                    </a:p>
                  </a:txBody>
                  <a:tcPr marL="45703" marR="45703" marT="22860" marB="22860" anchor="ctr">
                    <a:lnL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zh-CN" altLang="en-US" sz="160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53646"/>
                          </a:solidFill>
                          <a:effectLst/>
                          <a:uLnTx/>
                          <a:uFillTx/>
                          <a:latin typeface="Microsoft YaHei" panose="020B0503020204020204" charset="-122"/>
                          <a:ea typeface="微软雅黑" panose="020B0503020204020204" charset="-122"/>
                          <a:cs typeface="Arial" panose="020B0604020202020204" pitchFamily="34" charset="0"/>
                        </a:rPr>
                        <a:t>待进行</a:t>
                      </a:r>
                      <a:endParaRPr kumimoji="0" lang="zh-CN" altLang="en-US" sz="160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微软雅黑" panose="020B0503020204020204" charset="-122"/>
                        <a:ea typeface="微软雅黑" panose="020B0503020204020204" charset="-122"/>
                        <a:cs typeface="Arial" panose="020B0604020202020204" pitchFamily="34" charset="0"/>
                      </a:endParaRPr>
                    </a:p>
                  </a:txBody>
                  <a:tcPr marL="45703" marR="45703" marT="22860" marB="22860" anchor="ctr">
                    <a:lnL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prstClr val="white">
                          <a:lumMod val="75000"/>
                        </a:prst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8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pic>
        <p:nvPicPr>
          <p:cNvPr id="4" name="Picture 3" descr="logo_src_1_2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325880"/>
            <a:ext cx="1051560" cy="1051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1560" y="3108960"/>
            <a:ext cx="9601200" cy="637540"/>
          </a:xfrm>
          <a:prstGeom prst="rect">
            <a:avLst/>
          </a:prstGeom>
          <a:noFill/>
        </p:spPr>
        <p:txBody>
          <a:bodyPr wrap="square" lIns="9144" tIns="9144" r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183B55"/>
                </a:solidFill>
                <a:latin typeface="Microsoft YaHei" panose="020B0503020204020204" charset="-122"/>
                <a:ea typeface="微软雅黑" panose="020B0503020204020204" charset="-122"/>
              </a:rPr>
              <a:t>汇报完毕，恳请批评指正</a:t>
            </a:r>
            <a:endParaRPr sz="3600" b="1">
              <a:solidFill>
                <a:srgbClr val="D9B97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5.xml><?xml version="1.0" encoding="utf-8"?>
<p:tagLst xmlns:p="http://schemas.openxmlformats.org/presentationml/2006/main">
  <p:tag name="KSO_WM_DIAGRAM_VIRTUALLY_FRAME" val="{&quot;height&quot;:33.11999999999998,&quot;left&quot;:228.24,&quot;top&quot;:437.03999999999996,&quot;width&quot;:502.56000000000006}"/>
</p:tagLst>
</file>

<file path=ppt/tags/tag6.xml><?xml version="1.0" encoding="utf-8"?>
<p:tagLst xmlns:p="http://schemas.openxmlformats.org/presentationml/2006/main">
  <p:tag name="KSO_WM_DIAGRAM_VIRTUALLY_FRAME" val="{&quot;height&quot;:33.11999999999998,&quot;left&quot;:228.24,&quot;top&quot;:437.03999999999996,&quot;width&quot;:502.56000000000006}"/>
</p:tagLst>
</file>

<file path=ppt/tags/tag7.xml><?xml version="1.0" encoding="utf-8"?>
<p:tagLst xmlns:p="http://schemas.openxmlformats.org/presentationml/2006/main">
  <p:tag name="KSO_WM_DIAGRAM_VIRTUALLY_FRAME" val="{&quot;height&quot;:33.11999999999998,&quot;left&quot;:228.24,&quot;top&quot;:437.03999999999996,&quot;width&quot;:502.56000000000006}"/>
</p:tagLst>
</file>

<file path=ppt/tags/tag8.xml><?xml version="1.0" encoding="utf-8"?>
<p:tagLst xmlns:p="http://schemas.openxmlformats.org/presentationml/2006/main">
  <p:tag name="KSO_WM_DIAGRAM_VIRTUALLY_FRAME" val="{&quot;height&quot;:33.11999999999998,&quot;left&quot;:228.24,&quot;top&quot;:437.03999999999996,&quot;width&quot;:502.56000000000006}"/>
</p:tagLst>
</file>

<file path=ppt/tags/tag9.xml><?xml version="1.0" encoding="utf-8"?>
<p:tagLst xmlns:p="http://schemas.openxmlformats.org/presentationml/2006/main">
  <p:tag name="KSO_WM_DIAGRAM_VIRTUALLY_FRAME" val="{&quot;height&quot;:442.05,&quot;left&quot;:187.75,&quot;top&quot;:91.4,&quot;width&quot;:744.8}"/>
</p:tagLst>
</file>

<file path=ppt/tags/tag10.xml><?xml version="1.0" encoding="utf-8"?>
<p:tagLst xmlns:p="http://schemas.openxmlformats.org/presentationml/2006/main">
  <p:tag name="KSO_WM_DIAGRAM_VIRTUALLY_FRAME" val="{&quot;height&quot;:442.05,&quot;left&quot;:187.75,&quot;top&quot;:91.4,&quot;width&quot;:744.8}"/>
</p:tagLst>
</file>

<file path=ppt/tags/tag11.xml><?xml version="1.0" encoding="utf-8"?>
<p:tagLst xmlns:p="http://schemas.openxmlformats.org/presentationml/2006/main">
  <p:tag name="KSO_WM_DIAGRAM_VIRTUALLY_FRAME" val="{&quot;height&quot;:442.05,&quot;left&quot;:187.75,&quot;top&quot;:91.4,&quot;width&quot;:744.8}"/>
</p:tagLst>
</file>

<file path=ppt/tags/tag12.xml><?xml version="1.0" encoding="utf-8"?>
<p:tagLst xmlns:p="http://schemas.openxmlformats.org/presentationml/2006/main">
  <p:tag name="KSO_WM_DIAGRAM_VIRTUALLY_FRAME" val="{&quot;height&quot;:442.05,&quot;left&quot;:187.75,&quot;top&quot;:91.4,&quot;width&quot;:744.8}"/>
</p:tagLst>
</file>

<file path=ppt/tags/tag13.xml><?xml version="1.0" encoding="utf-8"?>
<p:tagLst xmlns:p="http://schemas.openxmlformats.org/presentationml/2006/main">
  <p:tag name="KSO_WM_DIAGRAM_VIRTUALLY_FRAME" val="{&quot;height&quot;:442.05,&quot;left&quot;:187.75,&quot;top&quot;:91.4,&quot;width&quot;:744.8}"/>
</p:tagLst>
</file>

<file path=ppt/tags/tag14.xml><?xml version="1.0" encoding="utf-8"?>
<p:tagLst xmlns:p="http://schemas.openxmlformats.org/presentationml/2006/main">
  <p:tag name="KSO_WM_DIAGRAM_VIRTUALLY_FRAME" val="{&quot;height&quot;:442.05,&quot;left&quot;:187.75,&quot;top&quot;:91.4,&quot;width&quot;:744.8}"/>
</p:tagLst>
</file>

<file path=ppt/tags/tag15.xml><?xml version="1.0" encoding="utf-8"?>
<p:tagLst xmlns:p="http://schemas.openxmlformats.org/presentationml/2006/main">
  <p:tag name="KSO_WM_DIAGRAM_VIRTUALLY_FRAME" val="{&quot;height&quot;:442.05,&quot;left&quot;:187.75,&quot;top&quot;:91.4,&quot;width&quot;:744.8}"/>
</p:tagLst>
</file>

<file path=ppt/tags/tag16.xml><?xml version="1.0" encoding="utf-8"?>
<p:tagLst xmlns:p="http://schemas.openxmlformats.org/presentationml/2006/main">
  <p:tag name="KSO_WM_DIAGRAM_VIRTUALLY_FRAME" val="{&quot;height&quot;:442.05,&quot;left&quot;:187.75,&quot;top&quot;:91.4,&quot;width&quot;:744.8}"/>
</p:tagLst>
</file>

<file path=ppt/tags/tag17.xml><?xml version="1.0" encoding="utf-8"?>
<p:tagLst xmlns:p="http://schemas.openxmlformats.org/presentationml/2006/main">
  <p:tag name="KSO_WM_DIAGRAM_VIRTUALLY_FRAME" val="{&quot;height&quot;:442.05,&quot;left&quot;:187.75,&quot;top&quot;:91.4,&quot;width&quot;:744.8}"/>
</p:tagLst>
</file>

<file path=ppt/tags/tag18.xml><?xml version="1.0" encoding="utf-8"?>
<p:tagLst xmlns:p="http://schemas.openxmlformats.org/presentationml/2006/main">
  <p:tag name="KSO_WM_DIAGRAM_VIRTUALLY_FRAME" val="{&quot;height&quot;:288.5133070866142,&quot;left&quot;:77.31181102362204,&quot;top&quot;:122.45669291338581,&quot;width&quot;:789.8200787401574}"/>
</p:tagLst>
</file>

<file path=ppt/tags/tag19.xml><?xml version="1.0" encoding="utf-8"?>
<p:tagLst xmlns:p="http://schemas.openxmlformats.org/presentationml/2006/main">
  <p:tag name="KSO_WM_DIAGRAM_VIRTUALLY_FRAME" val="{&quot;height&quot;:288.5133070866142,&quot;left&quot;:77.31181102362204,&quot;top&quot;:122.45669291338581,&quot;width&quot;:789.8200787401574}"/>
</p:tagLst>
</file>

<file path=ppt/tags/tag20.xml><?xml version="1.0" encoding="utf-8"?>
<p:tagLst xmlns:p="http://schemas.openxmlformats.org/presentationml/2006/main">
  <p:tag name="KSO_WM_DIAGRAM_VIRTUALLY_FRAME" val="{&quot;height&quot;:288.5133070866142,&quot;left&quot;:77.31181102362204,&quot;top&quot;:122.45669291338581,&quot;width&quot;:789.8200787401574}"/>
</p:tagLst>
</file>

<file path=ppt/tags/tag21.xml><?xml version="1.0" encoding="utf-8"?>
<p:tagLst xmlns:p="http://schemas.openxmlformats.org/presentationml/2006/main">
  <p:tag name="KSO_WM_DIAGRAM_VIRTUALLY_FRAME" val="{&quot;height&quot;:288.5133070866142,&quot;left&quot;:77.31181102362204,&quot;top&quot;:122.45669291338581,&quot;width&quot;:789.8200787401574}"/>
</p:tagLst>
</file>

<file path=ppt/tags/tag22.xml><?xml version="1.0" encoding="utf-8"?>
<p:tagLst xmlns:p="http://schemas.openxmlformats.org/presentationml/2006/main">
  <p:tag name="KSO_WM_DIAGRAM_VIRTUALLY_FRAME" val="{&quot;height&quot;:288.5133070866142,&quot;left&quot;:77.31181102362204,&quot;top&quot;:122.45669291338581,&quot;width&quot;:789.8200787401574}"/>
</p:tagLst>
</file>

<file path=ppt/tags/tag23.xml><?xml version="1.0" encoding="utf-8"?>
<p:tagLst xmlns:p="http://schemas.openxmlformats.org/presentationml/2006/main">
  <p:tag name="KSO_WM_DIAGRAM_VIRTUALLY_FRAME" val="{&quot;height&quot;:288.5133070866142,&quot;left&quot;:77.31181102362204,&quot;top&quot;:122.45669291338581,&quot;width&quot;:789.8200787401574}"/>
</p:tagLst>
</file>

<file path=ppt/tags/tag24.xml><?xml version="1.0" encoding="utf-8"?>
<p:tagLst xmlns:p="http://schemas.openxmlformats.org/presentationml/2006/main">
  <p:tag name="KSO_WM_DIAGRAM_VIRTUALLY_FRAME" val="{&quot;height&quot;:288.5133070866142,&quot;left&quot;:77.31181102362204,&quot;top&quot;:122.45669291338581,&quot;width&quot;:789.8200787401574}"/>
</p:tagLst>
</file>

<file path=ppt/tags/tag25.xml><?xml version="1.0" encoding="utf-8"?>
<p:tagLst xmlns:p="http://schemas.openxmlformats.org/presentationml/2006/main">
  <p:tag name="KSO_WM_DIAGRAM_VIRTUALLY_FRAME" val="{&quot;height&quot;:288.5133070866142,&quot;left&quot;:77.31181102362204,&quot;top&quot;:122.45669291338581,&quot;width&quot;:789.8200787401574}"/>
</p:tagLst>
</file>

<file path=ppt/tags/tag26.xml><?xml version="1.0" encoding="utf-8"?>
<p:tagLst xmlns:p="http://schemas.openxmlformats.org/presentationml/2006/main">
  <p:tag name="KSO_WM_DIAGRAM_VIRTUALLY_FRAME" val="{&quot;height&quot;:288.5133070866142,&quot;left&quot;:77.31181102362204,&quot;top&quot;:122.45669291338581,&quot;width&quot;:789.8200787401574}"/>
</p:tagLst>
</file>

<file path=ppt/tags/tag27.xml><?xml version="1.0" encoding="utf-8"?>
<p:tagLst xmlns:p="http://schemas.openxmlformats.org/presentationml/2006/main">
  <p:tag name="TABLE_ENDDRAG_ORIGIN_RECT" val="576*388"/>
  <p:tag name="TABLE_ENDDRAG_RECT" val="228*135*577*388"/>
</p:tagLst>
</file>

<file path=ppt/tags/tag28.xml><?xml version="1.0" encoding="utf-8"?>
<p:tagLst xmlns:p="http://schemas.openxmlformats.org/presentationml/2006/main">
  <p:tag name="resource_record_key" val="{&quot;10&quot;:[4394274,21602162,20093158,19990173,4587606,3635674,3635546,3633716]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2670</Words>
  <Application>WPS 演示</Application>
  <PresentationFormat>On-screen Show (4:3)</PresentationFormat>
  <Paragraphs>453</Paragraphs>
  <Slides>19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27" baseType="lpstr">
      <vt:lpstr>Arial</vt:lpstr>
      <vt:lpstr>宋体</vt:lpstr>
      <vt:lpstr>Wingdings</vt:lpstr>
      <vt:lpstr>Arial</vt:lpstr>
      <vt:lpstr>微软雅黑</vt:lpstr>
      <vt:lpstr>Calibri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王庆敏</cp:lastModifiedBy>
  <cp:revision>23</cp:revision>
  <dcterms:created xsi:type="dcterms:W3CDTF">2013-01-27T09:14:00Z</dcterms:created>
  <dcterms:modified xsi:type="dcterms:W3CDTF">2026-10-27T14:33:30Z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7A383B0242CC4F36BF9F311C7F84AE1D_12</vt:lpwstr>
  </property>
  <property fmtid="{D5CDD505-2E9C-101B-9397-08002B2CF9AE}" pid="3" name="KSOProductBuildVer">
    <vt:lpwstr>2052-12.1.0.20784</vt:lpwstr>
  </property>
</Properties>
</file>